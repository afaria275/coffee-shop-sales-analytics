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72" r:id="rId3"/>
    <p:sldId id="294" r:id="rId4"/>
    <p:sldId id="293" r:id="rId5"/>
    <p:sldId id="277" r:id="rId6"/>
    <p:sldId id="279" r:id="rId7"/>
    <p:sldId id="282" r:id="rId8"/>
    <p:sldId id="284" r:id="rId9"/>
    <p:sldId id="285" r:id="rId10"/>
    <p:sldId id="287" r:id="rId11"/>
    <p:sldId id="295" r:id="rId12"/>
    <p:sldId id="290" r:id="rId13"/>
    <p:sldId id="291" r:id="rId14"/>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48"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2"/>
          <c:y val="0.18"/>
          <c:w val="0.96"/>
          <c:h val="0.7"/>
        </c:manualLayout>
      </c:layout>
      <c:barChart>
        <c:barDir val="col"/>
        <c:grouping val="clustered"/>
        <c:varyColors val="0"/>
        <c:ser>
          <c:idx val="0"/>
          <c:order val="0"/>
          <c:tx>
            <c:v>Values</c:v>
          </c:tx>
          <c:spPr>
            <a:solidFill>
              <a:srgbClr val="A2917F"/>
            </a:solidFill>
            <a:ln>
              <a:noFill/>
            </a:ln>
          </c:spPr>
          <c:invertIfNegative val="1"/>
          <c:dPt>
            <c:idx val="5"/>
            <c:invertIfNegative val="1"/>
            <c:bubble3D val="0"/>
            <c:spPr>
              <a:solidFill>
                <a:srgbClr val="B5533C"/>
              </a:solidFill>
              <a:ln>
                <a:noFill/>
              </a:ln>
            </c:spPr>
            <c:extLst>
              <c:ext xmlns:c16="http://schemas.microsoft.com/office/drawing/2014/chart" uri="{C3380CC4-5D6E-409C-BE32-E72D297353CC}">
                <c16:uniqueId val="{00000001-6F23-4B81-8382-56FFE571744E}"/>
              </c:ext>
            </c:extLst>
          </c:dPt>
          <c:dLbls>
            <c:numFmt formatCode="&quot;$&quot;#,##0" sourceLinked="0"/>
            <c:spPr>
              <a:noFill/>
              <a:ln>
                <a:noFill/>
              </a:ln>
              <a:effectLst/>
            </c:spPr>
            <c:txPr>
              <a:bodyPr/>
              <a:lstStyle/>
              <a:p>
                <a:pPr>
                  <a:defRPr sz="1400" b="1">
                    <a:solidFill>
                      <a:srgbClr val="2B2622"/>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Jan</c:v>
              </c:pt>
              <c:pt idx="1">
                <c:v>Feb</c:v>
              </c:pt>
              <c:pt idx="2">
                <c:v>Mar</c:v>
              </c:pt>
              <c:pt idx="3">
                <c:v>Apr</c:v>
              </c:pt>
              <c:pt idx="4">
                <c:v>May</c:v>
              </c:pt>
              <c:pt idx="5">
                <c:v>Jun</c:v>
              </c:pt>
            </c:strLit>
          </c:cat>
          <c:val>
            <c:numLit>
              <c:formatCode>General</c:formatCode>
              <c:ptCount val="6"/>
              <c:pt idx="0">
                <c:v>81678</c:v>
              </c:pt>
              <c:pt idx="1">
                <c:v>76145</c:v>
              </c:pt>
              <c:pt idx="2">
                <c:v>98835</c:v>
              </c:pt>
              <c:pt idx="3">
                <c:v>118941</c:v>
              </c:pt>
              <c:pt idx="4">
                <c:v>156728</c:v>
              </c:pt>
              <c:pt idx="5">
                <c:v>166486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6F23-4B81-8382-56FFE571744E}"/>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B2622"/>
                </a:solidFill>
                <a:latin typeface="Segoe UI"/>
              </a:defRPr>
            </a:pPr>
            <a:endParaRPr lang="en-US"/>
          </a:p>
        </c:txPr>
        <c:crossAx val="2"/>
        <c:crosses val="autoZero"/>
        <c:auto val="1"/>
        <c:lblAlgn val="ctr"/>
        <c:lblOffset val="100"/>
        <c:noMultiLvlLbl val="1"/>
      </c:catAx>
      <c:valAx>
        <c:axId val="2"/>
        <c:scaling>
          <c:orientation val="minMax"/>
          <c:max val="209000"/>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Transactions</c:v>
          </c:tx>
          <c:spPr>
            <a:ln w="28575">
              <a:solidFill>
                <a:srgbClr val="B5533C"/>
              </a:solidFill>
            </a:ln>
          </c:spPr>
          <c:marker>
            <c:symbol val="none"/>
          </c:marker>
          <c:dLbls>
            <c:dLbl>
              <c:idx val="0"/>
              <c:tx>
                <c:rich>
                  <a:bodyPr/>
                  <a:lstStyle/>
                  <a:p>
                    <a:r>
                      <a:rPr lang="en-US" sz="1400" b="1">
                        <a:solidFill>
                          <a:srgbClr val="B5533C"/>
                        </a:solidFill>
                        <a:latin typeface="Segoe UI"/>
                      </a:rPr>
                      <a:t>100</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C20-4A60-9604-5945D2FF5CA3}"/>
                </c:ext>
              </c:extLst>
            </c:dLbl>
            <c:dLbl>
              <c:idx val="5"/>
              <c:tx>
                <c:rich>
                  <a:bodyPr/>
                  <a:lstStyle/>
                  <a:p>
                    <a:r>
                      <a:rPr lang="en-US" sz="1400" b="1">
                        <a:solidFill>
                          <a:srgbClr val="B5533C"/>
                        </a:solidFill>
                        <a:latin typeface="Segoe UI"/>
                      </a:rPr>
                      <a:t>Transactions  204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C20-4A60-9604-5945D2FF5C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Jan</c:v>
              </c:pt>
              <c:pt idx="1">
                <c:v>Feb</c:v>
              </c:pt>
              <c:pt idx="2">
                <c:v>Mar</c:v>
              </c:pt>
              <c:pt idx="3">
                <c:v>Apr</c:v>
              </c:pt>
              <c:pt idx="4">
                <c:v>May</c:v>
              </c:pt>
              <c:pt idx="5">
                <c:v>Jun</c:v>
              </c:pt>
            </c:strLit>
          </c:cat>
          <c:val>
            <c:numLit>
              <c:formatCode>General</c:formatCode>
              <c:ptCount val="6"/>
              <c:pt idx="0">
                <c:v>100</c:v>
              </c:pt>
              <c:pt idx="1">
                <c:v>94.5</c:v>
              </c:pt>
              <c:pt idx="2">
                <c:v>122.6</c:v>
              </c:pt>
              <c:pt idx="3">
                <c:v>146.30000000000001</c:v>
              </c:pt>
              <c:pt idx="4">
                <c:v>193.6</c:v>
              </c:pt>
              <c:pt idx="5">
                <c:v>204.2</c:v>
              </c:pt>
            </c:numLit>
          </c:val>
          <c:smooth val="0"/>
          <c:extLst>
            <c:ext xmlns:c16="http://schemas.microsoft.com/office/drawing/2014/chart" uri="{C3380CC4-5D6E-409C-BE32-E72D297353CC}">
              <c16:uniqueId val="{00000002-6C20-4A60-9604-5945D2FF5CA3}"/>
            </c:ext>
          </c:extLst>
        </c:ser>
        <c:ser>
          <c:idx val="1"/>
          <c:order val="1"/>
          <c:tx>
            <c:v>Average ticket</c:v>
          </c:tx>
          <c:spPr>
            <a:ln w="19050">
              <a:solidFill>
                <a:srgbClr val="6E7B52"/>
              </a:solidFill>
            </a:ln>
          </c:spPr>
          <c:marker>
            <c:symbol val="none"/>
          </c:marker>
          <c:dLbls>
            <c:dLbl>
              <c:idx val="0"/>
              <c:tx>
                <c:rich>
                  <a:bodyPr/>
                  <a:lstStyle/>
                  <a:p>
                    <a:r>
                      <a:rPr lang="en-US" sz="1400" b="0">
                        <a:solidFill>
                          <a:srgbClr val="6E7B52"/>
                        </a:solidFill>
                        <a:latin typeface="Segoe UI"/>
                      </a:rPr>
                      <a:t>100</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C20-4A60-9604-5945D2FF5CA3}"/>
                </c:ext>
              </c:extLst>
            </c:dLbl>
            <c:dLbl>
              <c:idx val="5"/>
              <c:tx>
                <c:rich>
                  <a:bodyPr/>
                  <a:lstStyle/>
                  <a:p>
                    <a:r>
                      <a:rPr lang="en-US" sz="1400" b="0">
                        <a:solidFill>
                          <a:srgbClr val="6E7B52"/>
                        </a:solidFill>
                        <a:latin typeface="Segoe UI"/>
                      </a:rPr>
                      <a:t>Average ticket  100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C20-4A60-9604-5945D2FF5C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Jan</c:v>
              </c:pt>
              <c:pt idx="1">
                <c:v>Feb</c:v>
              </c:pt>
              <c:pt idx="2">
                <c:v>Mar</c:v>
              </c:pt>
              <c:pt idx="3">
                <c:v>Apr</c:v>
              </c:pt>
              <c:pt idx="4">
                <c:v>May</c:v>
              </c:pt>
              <c:pt idx="5">
                <c:v>Jun</c:v>
              </c:pt>
            </c:strLit>
          </c:cat>
          <c:val>
            <c:numLit>
              <c:formatCode>General</c:formatCode>
              <c:ptCount val="6"/>
              <c:pt idx="0">
                <c:v>100</c:v>
              </c:pt>
              <c:pt idx="1">
                <c:v>98.7</c:v>
              </c:pt>
              <c:pt idx="2">
                <c:v>98.7</c:v>
              </c:pt>
              <c:pt idx="3">
                <c:v>99.5</c:v>
              </c:pt>
              <c:pt idx="4">
                <c:v>99.1</c:v>
              </c:pt>
              <c:pt idx="5">
                <c:v>99.8</c:v>
              </c:pt>
            </c:numLit>
          </c:val>
          <c:smooth val="0"/>
          <c:extLst>
            <c:ext xmlns:c16="http://schemas.microsoft.com/office/drawing/2014/chart" uri="{C3380CC4-5D6E-409C-BE32-E72D297353CC}">
              <c16:uniqueId val="{00000005-6C20-4A60-9604-5945D2FF5CA3}"/>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B2622"/>
                </a:solidFill>
                <a:latin typeface="Segoe UI"/>
              </a:defRPr>
            </a:pPr>
            <a:endParaRPr lang="en-US"/>
          </a:p>
        </c:txPr>
        <c:crossAx val="2"/>
        <c:crosses val="autoZero"/>
        <c:auto val="1"/>
        <c:lblAlgn val="ctr"/>
        <c:lblOffset val="100"/>
        <c:noMultiLvlLbl val="1"/>
      </c:catAx>
      <c:valAx>
        <c:axId val="2"/>
        <c:scaling>
          <c:orientation val="minMax"/>
          <c:max val="220"/>
          <c:min val="80"/>
        </c:scaling>
        <c:delete val="0"/>
        <c:axPos val="l"/>
        <c:majorGridlines>
          <c:spPr>
            <a:ln w="9525">
              <a:solidFill>
                <a:srgbClr val="ECECEC"/>
              </a:solidFill>
            </a:ln>
          </c:spPr>
        </c:majorGridlines>
        <c:numFmt formatCode="#,##0" sourceLinked="0"/>
        <c:majorTickMark val="none"/>
        <c:minorTickMark val="none"/>
        <c:tickLblPos val="nextTo"/>
        <c:spPr>
          <a:ln w="9525">
            <a:solidFill>
              <a:srgbClr val="C9C9C9"/>
            </a:solidFill>
          </a:ln>
        </c:spPr>
        <c:txPr>
          <a:bodyPr rot="0" vert="horz"/>
          <a:lstStyle/>
          <a:p>
            <a:pPr>
              <a:defRPr sz="1400" b="0">
                <a:solidFill>
                  <a:srgbClr val="6E6058"/>
                </a:solidFill>
                <a:latin typeface="Segoe UI"/>
              </a:defRPr>
            </a:pPr>
            <a:endParaRPr lang="en-US"/>
          </a:p>
        </c:txPr>
        <c:crossAx val="1"/>
        <c:crosses val="autoZero"/>
        <c:crossBetween val="between"/>
        <c:majorUnit val="20"/>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A2917F"/>
            </a:solidFill>
            <a:ln>
              <a:noFill/>
            </a:ln>
          </c:spPr>
          <c:invertIfNegative val="1"/>
          <c:dPt>
            <c:idx val="1"/>
            <c:invertIfNegative val="1"/>
            <c:bubble3D val="0"/>
            <c:spPr>
              <a:solidFill>
                <a:srgbClr val="B5533C"/>
              </a:solidFill>
              <a:ln>
                <a:noFill/>
              </a:ln>
            </c:spPr>
            <c:extLst>
              <c:ext xmlns:c16="http://schemas.microsoft.com/office/drawing/2014/chart" uri="{C3380CC4-5D6E-409C-BE32-E72D297353CC}">
                <c16:uniqueId val="{00000001-C9D0-446F-9112-0EE2BC8DDF50}"/>
              </c:ext>
            </c:extLst>
          </c:dPt>
          <c:dPt>
            <c:idx val="2"/>
            <c:invertIfNegative val="1"/>
            <c:bubble3D val="0"/>
            <c:spPr>
              <a:solidFill>
                <a:srgbClr val="B5533C"/>
              </a:solidFill>
              <a:ln>
                <a:noFill/>
              </a:ln>
            </c:spPr>
            <c:extLst>
              <c:ext xmlns:c16="http://schemas.microsoft.com/office/drawing/2014/chart" uri="{C3380CC4-5D6E-409C-BE32-E72D297353CC}">
                <c16:uniqueId val="{00000001-C9D0-446F-9112-0EE2BC8DDF50}"/>
              </c:ext>
            </c:extLst>
          </c:dPt>
          <c:dPt>
            <c:idx val="3"/>
            <c:invertIfNegative val="1"/>
            <c:bubble3D val="0"/>
            <c:spPr>
              <a:solidFill>
                <a:srgbClr val="B5533C"/>
              </a:solidFill>
              <a:ln>
                <a:noFill/>
              </a:ln>
            </c:spPr>
            <c:extLst>
              <c:ext xmlns:c16="http://schemas.microsoft.com/office/drawing/2014/chart" uri="{C3380CC4-5D6E-409C-BE32-E72D297353CC}">
                <c16:uniqueId val="{00000001-C9D0-446F-9112-0EE2BC8DDF50}"/>
              </c:ext>
            </c:extLst>
          </c:dPt>
          <c:dPt>
            <c:idx val="4"/>
            <c:invertIfNegative val="1"/>
            <c:bubble3D val="0"/>
            <c:spPr>
              <a:solidFill>
                <a:srgbClr val="B5533C"/>
              </a:solidFill>
              <a:ln>
                <a:noFill/>
              </a:ln>
            </c:spPr>
            <c:extLst>
              <c:ext xmlns:c16="http://schemas.microsoft.com/office/drawing/2014/chart" uri="{C3380CC4-5D6E-409C-BE32-E72D297353CC}">
                <c16:uniqueId val="{00000001-C9D0-446F-9112-0EE2BC8DDF50}"/>
              </c:ext>
            </c:extLst>
          </c:dPt>
          <c:dLbls>
            <c:numFmt formatCode="&quot;$&quot;#,##0&quot;k&quot;" sourceLinked="0"/>
            <c:spPr>
              <a:noFill/>
              <a:ln>
                <a:noFill/>
              </a:ln>
              <a:effectLst/>
            </c:spPr>
            <c:txPr>
              <a:bodyPr/>
              <a:lstStyle/>
              <a:p>
                <a:pPr>
                  <a:defRPr sz="1400" b="1">
                    <a:solidFill>
                      <a:srgbClr val="2B2622"/>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5"/>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strLit>
          </c:cat>
          <c:val>
            <c:numLit>
              <c:formatCode>General</c:formatCode>
              <c:ptCount val="15"/>
              <c:pt idx="0">
                <c:v>21.9</c:v>
              </c:pt>
              <c:pt idx="1">
                <c:v>63.5</c:v>
              </c:pt>
              <c:pt idx="2">
                <c:v>82.7</c:v>
              </c:pt>
              <c:pt idx="3">
                <c:v>85.2</c:v>
              </c:pt>
              <c:pt idx="4">
                <c:v>88.7</c:v>
              </c:pt>
              <c:pt idx="5">
                <c:v>46.3</c:v>
              </c:pt>
              <c:pt idx="6">
                <c:v>40.200000000000003</c:v>
              </c:pt>
              <c:pt idx="7">
                <c:v>40.4</c:v>
              </c:pt>
              <c:pt idx="8">
                <c:v>41.3</c:v>
              </c:pt>
              <c:pt idx="9">
                <c:v>41.7</c:v>
              </c:pt>
              <c:pt idx="10">
                <c:v>41.1</c:v>
              </c:pt>
              <c:pt idx="11">
                <c:v>40.1</c:v>
              </c:pt>
              <c:pt idx="12">
                <c:v>34.299999999999997</c:v>
              </c:pt>
              <c:pt idx="13">
                <c:v>28.4</c:v>
              </c:pt>
              <c:pt idx="14">
                <c:v>2.9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9D0-446F-9112-0EE2BC8DDF5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B2622"/>
                </a:solidFill>
                <a:latin typeface="Segoe U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A2917F"/>
            </a:solidFill>
            <a:ln>
              <a:noFill/>
            </a:ln>
          </c:spPr>
          <c:invertIfNegative val="1"/>
          <c:dPt>
            <c:idx val="8"/>
            <c:invertIfNegative val="1"/>
            <c:bubble3D val="0"/>
            <c:spPr>
              <a:solidFill>
                <a:srgbClr val="B5533C"/>
              </a:solidFill>
              <a:ln>
                <a:noFill/>
              </a:ln>
            </c:spPr>
            <c:extLst>
              <c:ext xmlns:c16="http://schemas.microsoft.com/office/drawing/2014/chart" uri="{C3380CC4-5D6E-409C-BE32-E72D297353CC}">
                <c16:uniqueId val="{00000001-3DD0-41A7-9E62-E4264C74BC8B}"/>
              </c:ext>
            </c:extLst>
          </c:dPt>
          <c:dLbls>
            <c:numFmt formatCode="0.0&quot;%&quot;" sourceLinked="0"/>
            <c:spPr>
              <a:noFill/>
              <a:ln>
                <a:noFill/>
              </a:ln>
              <a:effectLst/>
            </c:spPr>
            <c:txPr>
              <a:bodyPr/>
              <a:lstStyle/>
              <a:p>
                <a:pPr>
                  <a:defRPr sz="1400" b="1">
                    <a:solidFill>
                      <a:srgbClr val="2B2622"/>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Packaged Chocolate</c:v>
              </c:pt>
              <c:pt idx="1">
                <c:v>Flavours</c:v>
              </c:pt>
              <c:pt idx="2">
                <c:v>Loose Tea</c:v>
              </c:pt>
              <c:pt idx="3">
                <c:v>Branded</c:v>
              </c:pt>
              <c:pt idx="4">
                <c:v>Coffee beans</c:v>
              </c:pt>
              <c:pt idx="5">
                <c:v>Drinking Chocolate</c:v>
              </c:pt>
              <c:pt idx="6">
                <c:v>Bakery</c:v>
              </c:pt>
              <c:pt idx="7">
                <c:v>Tea</c:v>
              </c:pt>
              <c:pt idx="8">
                <c:v>Coffee</c:v>
              </c:pt>
            </c:strLit>
          </c:cat>
          <c:val>
            <c:numLit>
              <c:formatCode>General</c:formatCode>
              <c:ptCount val="9"/>
              <c:pt idx="0">
                <c:v>0.6</c:v>
              </c:pt>
              <c:pt idx="1">
                <c:v>1.2</c:v>
              </c:pt>
              <c:pt idx="2">
                <c:v>1.6</c:v>
              </c:pt>
              <c:pt idx="3">
                <c:v>1.9</c:v>
              </c:pt>
              <c:pt idx="4">
                <c:v>5.7</c:v>
              </c:pt>
              <c:pt idx="5">
                <c:v>10.4</c:v>
              </c:pt>
              <c:pt idx="6">
                <c:v>11.8</c:v>
              </c:pt>
              <c:pt idx="7">
                <c:v>28.1</c:v>
              </c:pt>
              <c:pt idx="8">
                <c:v>38.6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DD0-41A7-9E62-E4264C74BC8B}"/>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2B2622"/>
                </a:solidFill>
                <a:latin typeface="Segoe UI"/>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A2917F"/>
            </a:solidFill>
            <a:ln>
              <a:noFill/>
            </a:ln>
          </c:spPr>
          <c:invertIfNegative val="1"/>
          <c:dPt>
            <c:idx val="9"/>
            <c:invertIfNegative val="1"/>
            <c:bubble3D val="0"/>
            <c:spPr>
              <a:solidFill>
                <a:srgbClr val="B5533C"/>
              </a:solidFill>
              <a:ln>
                <a:noFill/>
              </a:ln>
            </c:spPr>
            <c:extLst>
              <c:ext xmlns:c16="http://schemas.microsoft.com/office/drawing/2014/chart" uri="{C3380CC4-5D6E-409C-BE32-E72D297353CC}">
                <c16:uniqueId val="{00000001-F451-45A0-8EC0-56381525C24A}"/>
              </c:ext>
            </c:extLst>
          </c:dPt>
          <c:dLbls>
            <c:numFmt formatCode="&quot;$&quot;#,##0&quot;k&quot;" sourceLinked="0"/>
            <c:spPr>
              <a:noFill/>
              <a:ln>
                <a:noFill/>
              </a:ln>
              <a:effectLst/>
            </c:spPr>
            <c:txPr>
              <a:bodyPr/>
              <a:lstStyle/>
              <a:p>
                <a:pPr>
                  <a:defRPr sz="1400" b="1">
                    <a:solidFill>
                      <a:srgbClr val="2B2622"/>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0"/>
              <c:pt idx="0">
                <c:v>Drip coffee</c:v>
              </c:pt>
              <c:pt idx="1">
                <c:v>Scone</c:v>
              </c:pt>
              <c:pt idx="2">
                <c:v>Organic brewed coffee</c:v>
              </c:pt>
              <c:pt idx="3">
                <c:v>Premium brewed coffee</c:v>
              </c:pt>
              <c:pt idx="4">
                <c:v>Brewed herbal tea</c:v>
              </c:pt>
              <c:pt idx="5">
                <c:v>Brewed Black tea</c:v>
              </c:pt>
              <c:pt idx="6">
                <c:v>Gourmet brewed coffee</c:v>
              </c:pt>
              <c:pt idx="7">
                <c:v>Hot chocolate</c:v>
              </c:pt>
              <c:pt idx="8">
                <c:v>Brewed Chai tea</c:v>
              </c:pt>
              <c:pt idx="9">
                <c:v>Barista Espresso</c:v>
              </c:pt>
            </c:strLit>
          </c:cat>
          <c:val>
            <c:numLit>
              <c:formatCode>General</c:formatCode>
              <c:ptCount val="10"/>
              <c:pt idx="0">
                <c:v>32</c:v>
              </c:pt>
              <c:pt idx="1">
                <c:v>36.9</c:v>
              </c:pt>
              <c:pt idx="2">
                <c:v>37.700000000000003</c:v>
              </c:pt>
              <c:pt idx="3">
                <c:v>38.799999999999997</c:v>
              </c:pt>
              <c:pt idx="4">
                <c:v>47.5</c:v>
              </c:pt>
              <c:pt idx="5">
                <c:v>47.9</c:v>
              </c:pt>
              <c:pt idx="6">
                <c:v>70</c:v>
              </c:pt>
              <c:pt idx="7">
                <c:v>72.400000000000006</c:v>
              </c:pt>
              <c:pt idx="8">
                <c:v>77.099999999999994</c:v>
              </c:pt>
              <c:pt idx="9">
                <c:v>91.4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451-45A0-8EC0-56381525C24A}"/>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2B2622"/>
                </a:solidFill>
                <a:latin typeface="Segoe UI"/>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C866-E1E7-0820-0461-1F8DE63C3E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PT"/>
          </a:p>
        </p:txBody>
      </p:sp>
      <p:sp>
        <p:nvSpPr>
          <p:cNvPr id="3" name="Subtitle 2">
            <a:extLst>
              <a:ext uri="{FF2B5EF4-FFF2-40B4-BE49-F238E27FC236}">
                <a16:creationId xmlns:a16="http://schemas.microsoft.com/office/drawing/2014/main" id="{C650EA25-D279-78DE-9F5A-6AE3A5A505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PT"/>
          </a:p>
        </p:txBody>
      </p:sp>
      <p:sp>
        <p:nvSpPr>
          <p:cNvPr id="4" name="Date Placeholder 3">
            <a:extLst>
              <a:ext uri="{FF2B5EF4-FFF2-40B4-BE49-F238E27FC236}">
                <a16:creationId xmlns:a16="http://schemas.microsoft.com/office/drawing/2014/main" id="{953DC486-FF01-0EBB-6448-355472B0B95E}"/>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6A61EED3-EA51-5B35-0071-A89451C4A72F}"/>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D4BBD464-34E8-1713-2BFD-25B758995E78}"/>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4048568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5150-95BB-D606-89C7-5250B7D423F7}"/>
              </a:ext>
            </a:extLst>
          </p:cNvPr>
          <p:cNvSpPr>
            <a:spLocks noGrp="1"/>
          </p:cNvSpPr>
          <p:nvPr>
            <p:ph type="title"/>
          </p:nvPr>
        </p:nvSpPr>
        <p:spPr/>
        <p:txBody>
          <a:bodyPr/>
          <a:lstStyle/>
          <a:p>
            <a:r>
              <a:rPr lang="en-US"/>
              <a:t>Click to edit Master title style</a:t>
            </a:r>
            <a:endParaRPr lang="pt-PT"/>
          </a:p>
        </p:txBody>
      </p:sp>
      <p:sp>
        <p:nvSpPr>
          <p:cNvPr id="3" name="Content Placeholder 2">
            <a:extLst>
              <a:ext uri="{FF2B5EF4-FFF2-40B4-BE49-F238E27FC236}">
                <a16:creationId xmlns:a16="http://schemas.microsoft.com/office/drawing/2014/main" id="{95D35675-963B-B8F9-298F-0F69FF8173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1CF50C05-3B22-2219-1AF9-E7020440320C}"/>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856308DC-1330-408F-3612-AA6B033731A5}"/>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0A54E9A9-0233-0D82-F784-C101835B4AD7}"/>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211721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54D1-3D5E-7269-AF86-70556D2D28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PT"/>
          </a:p>
        </p:txBody>
      </p:sp>
      <p:sp>
        <p:nvSpPr>
          <p:cNvPr id="3" name="Text Placeholder 2">
            <a:extLst>
              <a:ext uri="{FF2B5EF4-FFF2-40B4-BE49-F238E27FC236}">
                <a16:creationId xmlns:a16="http://schemas.microsoft.com/office/drawing/2014/main" id="{D3739676-2673-403F-5084-26B3D8B485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17FF6F-BE42-B6C6-BD02-26059163F012}"/>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41BABA96-823A-57E5-B47C-D631A6045E26}"/>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5B646281-B2F3-95B6-F232-1309DD06EFFE}"/>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16945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2E7B-32A6-47F1-00F9-8ECB1FD38825}"/>
              </a:ext>
            </a:extLst>
          </p:cNvPr>
          <p:cNvSpPr>
            <a:spLocks noGrp="1"/>
          </p:cNvSpPr>
          <p:nvPr>
            <p:ph type="title"/>
          </p:nvPr>
        </p:nvSpPr>
        <p:spPr/>
        <p:txBody>
          <a:bodyPr/>
          <a:lstStyle/>
          <a:p>
            <a:r>
              <a:rPr lang="en-US"/>
              <a:t>Click to edit Master title style</a:t>
            </a:r>
            <a:endParaRPr lang="pt-PT"/>
          </a:p>
        </p:txBody>
      </p:sp>
      <p:sp>
        <p:nvSpPr>
          <p:cNvPr id="3" name="Content Placeholder 2">
            <a:extLst>
              <a:ext uri="{FF2B5EF4-FFF2-40B4-BE49-F238E27FC236}">
                <a16:creationId xmlns:a16="http://schemas.microsoft.com/office/drawing/2014/main" id="{2D42890C-CC17-5082-B583-06435EA732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a:extLst>
              <a:ext uri="{FF2B5EF4-FFF2-40B4-BE49-F238E27FC236}">
                <a16:creationId xmlns:a16="http://schemas.microsoft.com/office/drawing/2014/main" id="{304C2CC0-D74A-05A0-5F11-8D7788CCCB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Date Placeholder 4">
            <a:extLst>
              <a:ext uri="{FF2B5EF4-FFF2-40B4-BE49-F238E27FC236}">
                <a16:creationId xmlns:a16="http://schemas.microsoft.com/office/drawing/2014/main" id="{1B745C78-94DA-1084-3E24-0E7C4AE9A5C9}"/>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6" name="Footer Placeholder 5">
            <a:extLst>
              <a:ext uri="{FF2B5EF4-FFF2-40B4-BE49-F238E27FC236}">
                <a16:creationId xmlns:a16="http://schemas.microsoft.com/office/drawing/2014/main" id="{25788124-F597-C230-2F0A-3AC4A75EC499}"/>
              </a:ext>
            </a:extLst>
          </p:cNvPr>
          <p:cNvSpPr>
            <a:spLocks noGrp="1"/>
          </p:cNvSpPr>
          <p:nvPr>
            <p:ph type="ftr" sz="quarter" idx="11"/>
          </p:nvPr>
        </p:nvSpPr>
        <p:spPr/>
        <p:txBody>
          <a:bodyPr/>
          <a:lstStyle/>
          <a:p>
            <a:endParaRPr lang="pt-PT"/>
          </a:p>
        </p:txBody>
      </p:sp>
      <p:sp>
        <p:nvSpPr>
          <p:cNvPr id="7" name="Slide Number Placeholder 6">
            <a:extLst>
              <a:ext uri="{FF2B5EF4-FFF2-40B4-BE49-F238E27FC236}">
                <a16:creationId xmlns:a16="http://schemas.microsoft.com/office/drawing/2014/main" id="{1D0BE454-21B1-569F-83EF-EAE629866D99}"/>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737694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BCA9-E0E4-EB4A-FF16-10173BFC12D2}"/>
              </a:ext>
            </a:extLst>
          </p:cNvPr>
          <p:cNvSpPr>
            <a:spLocks noGrp="1"/>
          </p:cNvSpPr>
          <p:nvPr>
            <p:ph type="title"/>
          </p:nvPr>
        </p:nvSpPr>
        <p:spPr>
          <a:xfrm>
            <a:off x="839788" y="365125"/>
            <a:ext cx="10515600" cy="1325563"/>
          </a:xfrm>
        </p:spPr>
        <p:txBody>
          <a:bodyPr/>
          <a:lstStyle/>
          <a:p>
            <a:r>
              <a:rPr lang="en-US"/>
              <a:t>Click to edit Master title style</a:t>
            </a:r>
            <a:endParaRPr lang="pt-PT"/>
          </a:p>
        </p:txBody>
      </p:sp>
      <p:sp>
        <p:nvSpPr>
          <p:cNvPr id="3" name="Text Placeholder 2">
            <a:extLst>
              <a:ext uri="{FF2B5EF4-FFF2-40B4-BE49-F238E27FC236}">
                <a16:creationId xmlns:a16="http://schemas.microsoft.com/office/drawing/2014/main" id="{40A09B72-D12C-C51E-37A1-C7C364A2F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21FD51-DF49-AA1D-F338-46D67978D4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Text Placeholder 4">
            <a:extLst>
              <a:ext uri="{FF2B5EF4-FFF2-40B4-BE49-F238E27FC236}">
                <a16:creationId xmlns:a16="http://schemas.microsoft.com/office/drawing/2014/main" id="{2A4C04DD-F4E4-742C-7221-30A533DD41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A0064A-A4DD-3B38-F3B8-856E1C8288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Date Placeholder 6">
            <a:extLst>
              <a:ext uri="{FF2B5EF4-FFF2-40B4-BE49-F238E27FC236}">
                <a16:creationId xmlns:a16="http://schemas.microsoft.com/office/drawing/2014/main" id="{79924418-08D8-0944-88E0-9B60F73641A4}"/>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8" name="Footer Placeholder 7">
            <a:extLst>
              <a:ext uri="{FF2B5EF4-FFF2-40B4-BE49-F238E27FC236}">
                <a16:creationId xmlns:a16="http://schemas.microsoft.com/office/drawing/2014/main" id="{7D0D7DAC-22AD-2E94-1459-6B3B44B8EBCD}"/>
              </a:ext>
            </a:extLst>
          </p:cNvPr>
          <p:cNvSpPr>
            <a:spLocks noGrp="1"/>
          </p:cNvSpPr>
          <p:nvPr>
            <p:ph type="ftr" sz="quarter" idx="11"/>
          </p:nvPr>
        </p:nvSpPr>
        <p:spPr/>
        <p:txBody>
          <a:bodyPr/>
          <a:lstStyle/>
          <a:p>
            <a:endParaRPr lang="pt-PT"/>
          </a:p>
        </p:txBody>
      </p:sp>
      <p:sp>
        <p:nvSpPr>
          <p:cNvPr id="9" name="Slide Number Placeholder 8">
            <a:extLst>
              <a:ext uri="{FF2B5EF4-FFF2-40B4-BE49-F238E27FC236}">
                <a16:creationId xmlns:a16="http://schemas.microsoft.com/office/drawing/2014/main" id="{E300964A-7472-046D-D2FE-42EC29D94576}"/>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786748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C287-1533-F3B7-EBC3-B3BB8C1E27B5}"/>
              </a:ext>
            </a:extLst>
          </p:cNvPr>
          <p:cNvSpPr>
            <a:spLocks noGrp="1"/>
          </p:cNvSpPr>
          <p:nvPr>
            <p:ph type="title"/>
          </p:nvPr>
        </p:nvSpPr>
        <p:spPr/>
        <p:txBody>
          <a:bodyPr/>
          <a:lstStyle/>
          <a:p>
            <a:r>
              <a:rPr lang="en-US"/>
              <a:t>Click to edit Master title style</a:t>
            </a:r>
            <a:endParaRPr lang="pt-PT"/>
          </a:p>
        </p:txBody>
      </p:sp>
      <p:sp>
        <p:nvSpPr>
          <p:cNvPr id="3" name="Date Placeholder 2">
            <a:extLst>
              <a:ext uri="{FF2B5EF4-FFF2-40B4-BE49-F238E27FC236}">
                <a16:creationId xmlns:a16="http://schemas.microsoft.com/office/drawing/2014/main" id="{42CD3FD2-661C-6BA7-5EA4-E7482963D1FB}"/>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4" name="Footer Placeholder 3">
            <a:extLst>
              <a:ext uri="{FF2B5EF4-FFF2-40B4-BE49-F238E27FC236}">
                <a16:creationId xmlns:a16="http://schemas.microsoft.com/office/drawing/2014/main" id="{B0EBA438-CA07-55D2-BE75-4D0A7B200269}"/>
              </a:ext>
            </a:extLst>
          </p:cNvPr>
          <p:cNvSpPr>
            <a:spLocks noGrp="1"/>
          </p:cNvSpPr>
          <p:nvPr>
            <p:ph type="ftr" sz="quarter" idx="11"/>
          </p:nvPr>
        </p:nvSpPr>
        <p:spPr/>
        <p:txBody>
          <a:bodyPr/>
          <a:lstStyle/>
          <a:p>
            <a:endParaRPr lang="pt-PT"/>
          </a:p>
        </p:txBody>
      </p:sp>
      <p:sp>
        <p:nvSpPr>
          <p:cNvPr id="5" name="Slide Number Placeholder 4">
            <a:extLst>
              <a:ext uri="{FF2B5EF4-FFF2-40B4-BE49-F238E27FC236}">
                <a16:creationId xmlns:a16="http://schemas.microsoft.com/office/drawing/2014/main" id="{53E1FE97-8720-20C2-BC77-B5EA68CA0126}"/>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862981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722F47-C6FC-04E5-2D34-142C75FC45CD}"/>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3" name="Footer Placeholder 2">
            <a:extLst>
              <a:ext uri="{FF2B5EF4-FFF2-40B4-BE49-F238E27FC236}">
                <a16:creationId xmlns:a16="http://schemas.microsoft.com/office/drawing/2014/main" id="{B027F5E4-F4F3-B501-6901-9F27ABA52184}"/>
              </a:ext>
            </a:extLst>
          </p:cNvPr>
          <p:cNvSpPr>
            <a:spLocks noGrp="1"/>
          </p:cNvSpPr>
          <p:nvPr>
            <p:ph type="ftr" sz="quarter" idx="11"/>
          </p:nvPr>
        </p:nvSpPr>
        <p:spPr/>
        <p:txBody>
          <a:bodyPr/>
          <a:lstStyle/>
          <a:p>
            <a:endParaRPr lang="pt-PT"/>
          </a:p>
        </p:txBody>
      </p:sp>
      <p:sp>
        <p:nvSpPr>
          <p:cNvPr id="4" name="Slide Number Placeholder 3">
            <a:extLst>
              <a:ext uri="{FF2B5EF4-FFF2-40B4-BE49-F238E27FC236}">
                <a16:creationId xmlns:a16="http://schemas.microsoft.com/office/drawing/2014/main" id="{AA80E6E9-D395-F4AA-104B-08B37BC1BFF5}"/>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2266352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C456-34EE-E64C-E3E7-0A2C71F5DE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PT"/>
          </a:p>
        </p:txBody>
      </p:sp>
      <p:sp>
        <p:nvSpPr>
          <p:cNvPr id="3" name="Content Placeholder 2">
            <a:extLst>
              <a:ext uri="{FF2B5EF4-FFF2-40B4-BE49-F238E27FC236}">
                <a16:creationId xmlns:a16="http://schemas.microsoft.com/office/drawing/2014/main" id="{5EAA87B2-F164-C73E-8B87-A96E6FE7B7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a:extLst>
              <a:ext uri="{FF2B5EF4-FFF2-40B4-BE49-F238E27FC236}">
                <a16:creationId xmlns:a16="http://schemas.microsoft.com/office/drawing/2014/main" id="{AF86341D-602D-284A-2EE4-C5492EE132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6E341-F744-BC32-E33D-374495C34658}"/>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6" name="Footer Placeholder 5">
            <a:extLst>
              <a:ext uri="{FF2B5EF4-FFF2-40B4-BE49-F238E27FC236}">
                <a16:creationId xmlns:a16="http://schemas.microsoft.com/office/drawing/2014/main" id="{3E68807B-3DE3-2C50-AEF1-17C0D0959024}"/>
              </a:ext>
            </a:extLst>
          </p:cNvPr>
          <p:cNvSpPr>
            <a:spLocks noGrp="1"/>
          </p:cNvSpPr>
          <p:nvPr>
            <p:ph type="ftr" sz="quarter" idx="11"/>
          </p:nvPr>
        </p:nvSpPr>
        <p:spPr/>
        <p:txBody>
          <a:bodyPr/>
          <a:lstStyle/>
          <a:p>
            <a:endParaRPr lang="pt-PT"/>
          </a:p>
        </p:txBody>
      </p:sp>
      <p:sp>
        <p:nvSpPr>
          <p:cNvPr id="7" name="Slide Number Placeholder 6">
            <a:extLst>
              <a:ext uri="{FF2B5EF4-FFF2-40B4-BE49-F238E27FC236}">
                <a16:creationId xmlns:a16="http://schemas.microsoft.com/office/drawing/2014/main" id="{A2F20415-0203-4CFB-9834-0D9D97E6FC62}"/>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204287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312A-F4F3-872A-3D98-4305024C8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PT"/>
          </a:p>
        </p:txBody>
      </p:sp>
      <p:sp>
        <p:nvSpPr>
          <p:cNvPr id="3" name="Picture Placeholder 2">
            <a:extLst>
              <a:ext uri="{FF2B5EF4-FFF2-40B4-BE49-F238E27FC236}">
                <a16:creationId xmlns:a16="http://schemas.microsoft.com/office/drawing/2014/main" id="{691B1180-B5CD-9633-ED25-E78DF29D4D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Text Placeholder 3">
            <a:extLst>
              <a:ext uri="{FF2B5EF4-FFF2-40B4-BE49-F238E27FC236}">
                <a16:creationId xmlns:a16="http://schemas.microsoft.com/office/drawing/2014/main" id="{1D16C309-CFD6-7438-DA69-154422A0D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BF7C04-C6B6-DD4E-3CB1-EB9949C1FCC3}"/>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6" name="Footer Placeholder 5">
            <a:extLst>
              <a:ext uri="{FF2B5EF4-FFF2-40B4-BE49-F238E27FC236}">
                <a16:creationId xmlns:a16="http://schemas.microsoft.com/office/drawing/2014/main" id="{2703AB10-59E6-D1B7-7FD7-9555A996E1E3}"/>
              </a:ext>
            </a:extLst>
          </p:cNvPr>
          <p:cNvSpPr>
            <a:spLocks noGrp="1"/>
          </p:cNvSpPr>
          <p:nvPr>
            <p:ph type="ftr" sz="quarter" idx="11"/>
          </p:nvPr>
        </p:nvSpPr>
        <p:spPr/>
        <p:txBody>
          <a:bodyPr/>
          <a:lstStyle/>
          <a:p>
            <a:endParaRPr lang="pt-PT"/>
          </a:p>
        </p:txBody>
      </p:sp>
      <p:sp>
        <p:nvSpPr>
          <p:cNvPr id="7" name="Slide Number Placeholder 6">
            <a:extLst>
              <a:ext uri="{FF2B5EF4-FFF2-40B4-BE49-F238E27FC236}">
                <a16:creationId xmlns:a16="http://schemas.microsoft.com/office/drawing/2014/main" id="{E102150E-0835-0B46-DDB3-7F5FDD0CB459}"/>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864937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5E37-D473-1F4C-96D9-84924FF1BDEF}"/>
              </a:ext>
            </a:extLst>
          </p:cNvPr>
          <p:cNvSpPr>
            <a:spLocks noGrp="1"/>
          </p:cNvSpPr>
          <p:nvPr>
            <p:ph type="title"/>
          </p:nvPr>
        </p:nvSpPr>
        <p:spPr/>
        <p:txBody>
          <a:bodyPr/>
          <a:lstStyle/>
          <a:p>
            <a:r>
              <a:rPr lang="en-US"/>
              <a:t>Click to edit Master title style</a:t>
            </a:r>
            <a:endParaRPr lang="pt-PT"/>
          </a:p>
        </p:txBody>
      </p:sp>
      <p:sp>
        <p:nvSpPr>
          <p:cNvPr id="3" name="Vertical Text Placeholder 2">
            <a:extLst>
              <a:ext uri="{FF2B5EF4-FFF2-40B4-BE49-F238E27FC236}">
                <a16:creationId xmlns:a16="http://schemas.microsoft.com/office/drawing/2014/main" id="{96E5AB13-4344-A92C-6718-C2FFDDA69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A73C38A5-2BB1-44A5-7EF7-D59653773EC7}"/>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4D10B204-A990-1474-3137-5B44BA4AA008}"/>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82BF195D-8CAE-5CAF-3274-1B0A6F36F737}"/>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1203393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4FFA29-6AD3-18F4-FEFC-3B4D97F345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PT"/>
          </a:p>
        </p:txBody>
      </p:sp>
      <p:sp>
        <p:nvSpPr>
          <p:cNvPr id="3" name="Vertical Text Placeholder 2">
            <a:extLst>
              <a:ext uri="{FF2B5EF4-FFF2-40B4-BE49-F238E27FC236}">
                <a16:creationId xmlns:a16="http://schemas.microsoft.com/office/drawing/2014/main" id="{1A0F4B5E-141A-7242-B7D8-99C00795E0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A54BFFB6-6329-7A84-03D1-DD1533558C6E}"/>
              </a:ext>
            </a:extLst>
          </p:cNvPr>
          <p:cNvSpPr>
            <a:spLocks noGrp="1"/>
          </p:cNvSpPr>
          <p:nvPr>
            <p:ph type="dt" sz="half" idx="10"/>
          </p:nvPr>
        </p:nvSpPr>
        <p:spPr/>
        <p:txBody>
          <a:body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F287D71F-5D2C-CA96-FCC5-9BC7EDD6FA5B}"/>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8444343E-0A2B-B96E-CDF1-D1BE64E43D36}"/>
              </a:ext>
            </a:extLst>
          </p:cNvPr>
          <p:cNvSpPr>
            <a:spLocks noGrp="1"/>
          </p:cNvSpPr>
          <p:nvPr>
            <p:ph type="sldNum" sz="quarter" idx="12"/>
          </p:nvPr>
        </p:nvSpPr>
        <p:spPr/>
        <p:txBody>
          <a:bodyPr/>
          <a:lstStyle/>
          <a:p>
            <a:fld id="{12E722B4-EDCF-4764-B392-BDABBDCCF084}" type="slidenum">
              <a:rPr lang="pt-PT" smtClean="0"/>
              <a:t>‹#›</a:t>
            </a:fld>
            <a:endParaRPr lang="pt-PT"/>
          </a:p>
        </p:txBody>
      </p:sp>
    </p:spTree>
    <p:extLst>
      <p:ext uri="{BB962C8B-B14F-4D97-AF65-F5344CB8AC3E}">
        <p14:creationId xmlns:p14="http://schemas.microsoft.com/office/powerpoint/2010/main" val="87521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DAE622-8AD0-559C-43BB-172789652D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PT"/>
          </a:p>
        </p:txBody>
      </p:sp>
      <p:sp>
        <p:nvSpPr>
          <p:cNvPr id="3" name="Text Placeholder 2">
            <a:extLst>
              <a:ext uri="{FF2B5EF4-FFF2-40B4-BE49-F238E27FC236}">
                <a16:creationId xmlns:a16="http://schemas.microsoft.com/office/drawing/2014/main" id="{16E89577-A289-6971-C95F-356064A601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3DA732EA-E97F-21E8-D845-BB528729A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C32433-BF07-4685-9239-2409655CC2F5}" type="datetimeFigureOut">
              <a:rPr lang="pt-PT" smtClean="0"/>
              <a:t>06/09/2026</a:t>
            </a:fld>
            <a:endParaRPr lang="pt-PT"/>
          </a:p>
        </p:txBody>
      </p:sp>
      <p:sp>
        <p:nvSpPr>
          <p:cNvPr id="5" name="Footer Placeholder 4">
            <a:extLst>
              <a:ext uri="{FF2B5EF4-FFF2-40B4-BE49-F238E27FC236}">
                <a16:creationId xmlns:a16="http://schemas.microsoft.com/office/drawing/2014/main" id="{885FA817-48C6-34E8-AE7F-32AD8815CC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PT"/>
          </a:p>
        </p:txBody>
      </p:sp>
      <p:sp>
        <p:nvSpPr>
          <p:cNvPr id="6" name="Slide Number Placeholder 5">
            <a:extLst>
              <a:ext uri="{FF2B5EF4-FFF2-40B4-BE49-F238E27FC236}">
                <a16:creationId xmlns:a16="http://schemas.microsoft.com/office/drawing/2014/main" id="{C99AFDDF-4A67-9B40-F27B-0A04D81FD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E722B4-EDCF-4764-B392-BDABBDCCF084}" type="slidenum">
              <a:rPr lang="pt-PT" smtClean="0"/>
              <a:t>‹#›</a:t>
            </a:fld>
            <a:endParaRPr lang="pt-PT"/>
          </a:p>
        </p:txBody>
      </p:sp>
      <p:grpSp>
        <p:nvGrpSpPr>
          <p:cNvPr id="90" name="Brand"/>
          <p:cNvGrpSpPr/>
          <p:nvPr/>
        </p:nvGrpSpPr>
        <p:grpSpPr>
          <a:xfrm>
            <a:off x="0" y="0"/>
            <a:ext cx="12192000" cy="6858000"/>
            <a:chOff x="0" y="0"/>
            <a:chExt cx="12192000" cy="6858000"/>
          </a:xfrm>
        </p:grpSpPr>
        <p:sp>
          <p:nvSpPr>
            <p:cNvPr id="91" name="Rule"/>
            <p:cNvSpPr/>
            <p:nvPr/>
          </p:nvSpPr>
          <p:spPr>
            <a:xfrm>
              <a:off x="457200" y="6362700"/>
              <a:ext cx="11277600" cy="12700"/>
            </a:xfrm>
            <a:prstGeom prst="rect">
              <a:avLst/>
            </a:prstGeom>
            <a:solidFill>
              <a:srgbClr val="D9CBBA"/>
            </a:solidFill>
            <a:ln>
              <a:noFill/>
            </a:ln>
          </p:spPr>
          <p:txBody>
            <a:bodyPr/>
            <a:lstStyle/>
            <a:p>
              <a:endParaRPr lang="en-US"/>
            </a:p>
          </p:txBody>
        </p:sp>
        <p:sp>
          <p:nvSpPr>
            <p:cNvPr id="92" name="Accent block"/>
            <p:cNvSpPr/>
            <p:nvPr/>
          </p:nvSpPr>
          <p:spPr>
            <a:xfrm>
              <a:off x="457200" y="6362700"/>
              <a:ext cx="1143000" cy="12700"/>
            </a:xfrm>
            <a:prstGeom prst="rect">
              <a:avLst/>
            </a:prstGeom>
            <a:solidFill>
              <a:srgbClr val="B5533C"/>
            </a:solidFill>
            <a:ln>
              <a:noFill/>
            </a:ln>
          </p:spPr>
          <p:txBody>
            <a:bodyPr/>
            <a:lstStyle/>
            <a:p>
              <a:endParaRPr lang="en-US"/>
            </a:p>
          </p:txBody>
        </p:sp>
      </p:grpSp>
    </p:spTree>
    <p:extLst>
      <p:ext uri="{BB962C8B-B14F-4D97-AF65-F5344CB8AC3E}">
        <p14:creationId xmlns:p14="http://schemas.microsoft.com/office/powerpoint/2010/main" val="1525708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2B262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D352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D352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D352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3D352E"/>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FC98-1578-CDE0-AABB-80AE4F53B1A3}"/>
              </a:ext>
            </a:extLst>
          </p:cNvPr>
          <p:cNvSpPr>
            <a:spLocks noGrp="1"/>
          </p:cNvSpPr>
          <p:nvPr>
            <p:ph type="ctrTitle"/>
          </p:nvPr>
        </p:nvSpPr>
        <p:spPr>
          <a:xfrm>
            <a:off x="1143000" y="2489200"/>
            <a:ext cx="9144000" cy="1397000"/>
          </a:xfrm>
        </p:spPr>
        <p:txBody>
          <a:bodyPr/>
          <a:lstStyle/>
          <a:p>
            <a:pPr algn="l">
              <a:buNone/>
            </a:pPr>
            <a:r>
              <a:rPr lang="en-US" sz="4400" b="1" dirty="0">
                <a:solidFill>
                  <a:srgbClr val="2B2622"/>
                </a:solidFill>
              </a:rPr>
              <a:t>Coffee Shop Sales</a:t>
            </a:r>
          </a:p>
          <a:p>
            <a:pPr algn="l">
              <a:buNone/>
            </a:pPr>
            <a:r>
              <a:rPr lang="en-US" sz="4400" dirty="0">
                <a:solidFill>
                  <a:srgbClr val="B5533C"/>
                </a:solidFill>
              </a:rPr>
              <a:t>New York</a:t>
            </a:r>
          </a:p>
        </p:txBody>
      </p:sp>
      <p:sp>
        <p:nvSpPr>
          <p:cNvPr id="3" name="Subtitle 2">
            <a:extLst>
              <a:ext uri="{FF2B5EF4-FFF2-40B4-BE49-F238E27FC236}">
                <a16:creationId xmlns:a16="http://schemas.microsoft.com/office/drawing/2014/main" id="{49DCACEE-5401-A3AA-93E6-8C1B4E027DA0}"/>
              </a:ext>
            </a:extLst>
          </p:cNvPr>
          <p:cNvSpPr>
            <a:spLocks noGrp="1"/>
          </p:cNvSpPr>
          <p:nvPr>
            <p:ph type="subTitle" idx="1"/>
          </p:nvPr>
        </p:nvSpPr>
        <p:spPr>
          <a:xfrm>
            <a:off x="1143000" y="4191000"/>
            <a:ext cx="9144000" cy="1397000"/>
          </a:xfrm>
        </p:spPr>
        <p:txBody>
          <a:bodyPr/>
          <a:lstStyle/>
          <a:p>
            <a:pPr algn="l">
              <a:buNone/>
            </a:pPr>
            <a:r>
              <a:rPr lang="en-US" sz="2000" dirty="0">
                <a:solidFill>
                  <a:srgbClr val="4A3E36"/>
                </a:solidFill>
              </a:rPr>
              <a:t>Commercial performance review</a:t>
            </a:r>
          </a:p>
          <a:p>
            <a:pPr algn="l">
              <a:spcBef>
                <a:spcPts val="600"/>
              </a:spcBef>
              <a:buNone/>
            </a:pPr>
            <a:r>
              <a:rPr lang="en-US" sz="1600" dirty="0">
                <a:solidFill>
                  <a:srgbClr val="6E6058"/>
                </a:solidFill>
              </a:rPr>
              <a:t>January – June 2023  ·  three stores  ·  149,116 transactions</a:t>
            </a:r>
          </a:p>
        </p:txBody>
      </p:sp>
      <p:sp>
        <p:nvSpPr>
          <p:cNvPr id="40" name="Cover rule"/>
          <p:cNvSpPr/>
          <p:nvPr/>
        </p:nvSpPr>
        <p:spPr>
          <a:xfrm>
            <a:off x="1143000" y="2108200"/>
            <a:ext cx="1066800" cy="63500"/>
          </a:xfrm>
          <a:prstGeom prst="rect">
            <a:avLst/>
          </a:prstGeom>
          <a:solidFill>
            <a:srgbClr val="B5533C"/>
          </a:solidFill>
          <a:ln>
            <a:noFill/>
          </a:ln>
        </p:spPr>
        <p:txBody>
          <a:bodyPr/>
          <a:lstStyle/>
          <a:p>
            <a:endParaRPr lang="en-US"/>
          </a:p>
        </p:txBody>
      </p:sp>
      <p:sp>
        <p:nvSpPr>
          <p:cNvPr id="41" name="Source note"/>
          <p:cNvSpPr txBox="1"/>
          <p:nvPr/>
        </p:nvSpPr>
        <p:spPr>
          <a:xfrm>
            <a:off x="1143000" y="5740400"/>
            <a:ext cx="9144000" cy="330200"/>
          </a:xfrm>
          <a:prstGeom prst="rect">
            <a:avLst/>
          </a:prstGeom>
          <a:noFill/>
        </p:spPr>
        <p:txBody>
          <a:bodyPr lIns="0" tIns="0" rIns="0" bIns="0" anchor="t"/>
          <a:lstStyle/>
          <a:p>
            <a:pPr algn="l">
              <a:buNone/>
            </a:pPr>
            <a:r>
              <a:rPr lang="en-US" sz="1400" dirty="0">
                <a:solidFill>
                  <a:srgbClr val="8A7C72"/>
                </a:solidFill>
              </a:rPr>
              <a:t>Source: transaction-level extract, Maven Analytics public dataset  ·  Analysis in Microsoft Excel</a:t>
            </a:r>
          </a:p>
        </p:txBody>
      </p:sp>
    </p:spTree>
    <p:extLst>
      <p:ext uri="{BB962C8B-B14F-4D97-AF65-F5344CB8AC3E}">
        <p14:creationId xmlns:p14="http://schemas.microsoft.com/office/powerpoint/2010/main" val="381688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82ACA-3752-C56E-895B-5C51E2E13D6E}"/>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Executive summary</a:t>
            </a:r>
          </a:p>
        </p:txBody>
      </p:sp>
      <p:sp>
        <p:nvSpPr>
          <p:cNvPr id="3" name="Content Placeholder 2">
            <a:extLst>
              <a:ext uri="{FF2B5EF4-FFF2-40B4-BE49-F238E27FC236}">
                <a16:creationId xmlns:a16="http://schemas.microsoft.com/office/drawing/2014/main" id="{94087696-4A97-2877-22AA-7C5158100B7D}"/>
              </a:ext>
            </a:extLst>
          </p:cNvPr>
          <p:cNvSpPr>
            <a:spLocks noGrp="1"/>
          </p:cNvSpPr>
          <p:nvPr>
            <p:ph idx="1"/>
          </p:nvPr>
        </p:nvSpPr>
        <p:spPr>
          <a:xfrm>
            <a:off x="838200" y="1752600"/>
            <a:ext cx="10160000" cy="4368800"/>
          </a:xfrm>
        </p:spPr>
        <p:txBody>
          <a:bodyPr/>
          <a:lstStyle/>
          <a:p>
            <a:pPr marL="0" indent="0" algn="l">
              <a:spcBef>
                <a:spcPts val="0"/>
              </a:spcBef>
              <a:buNone/>
            </a:pPr>
            <a:r>
              <a:rPr lang="en-US" sz="2000" b="1" dirty="0">
                <a:solidFill>
                  <a:srgbClr val="B5533C"/>
                </a:solidFill>
              </a:rPr>
              <a:t>01   </a:t>
            </a:r>
            <a:r>
              <a:rPr lang="en-US" sz="2000" b="1" dirty="0">
                <a:solidFill>
                  <a:srgbClr val="2B2622"/>
                </a:solidFill>
              </a:rPr>
              <a:t>Revenue doubled in six months</a:t>
            </a:r>
          </a:p>
          <a:p>
            <a:pPr marL="381000" indent="0" algn="l">
              <a:spcBef>
                <a:spcPts val="400"/>
              </a:spcBef>
              <a:buNone/>
            </a:pPr>
            <a:r>
              <a:rPr lang="en-US" sz="1600" dirty="0">
                <a:solidFill>
                  <a:srgbClr val="4A3E36"/>
                </a:solidFill>
              </a:rPr>
              <a:t>Monthly revenue rose from USD 81,678 in January to USD 166,486 in June, +103.8%. Total for the period: USD 698,812 across 149,116 transactions.</a:t>
            </a:r>
          </a:p>
          <a:p>
            <a:pPr marL="0" indent="0" algn="l">
              <a:spcBef>
                <a:spcPts val="1900"/>
              </a:spcBef>
              <a:buNone/>
            </a:pPr>
            <a:r>
              <a:rPr lang="en-US" sz="2000" b="1" dirty="0">
                <a:solidFill>
                  <a:srgbClr val="B5533C"/>
                </a:solidFill>
              </a:rPr>
              <a:t>02   </a:t>
            </a:r>
            <a:r>
              <a:rPr lang="en-US" sz="2000" b="1" dirty="0">
                <a:solidFill>
                  <a:srgbClr val="2B2622"/>
                </a:solidFill>
              </a:rPr>
              <a:t>Growth came from footfall, not from price</a:t>
            </a:r>
          </a:p>
          <a:p>
            <a:pPr marL="381000" indent="0" algn="l">
              <a:spcBef>
                <a:spcPts val="400"/>
              </a:spcBef>
              <a:buNone/>
            </a:pPr>
            <a:r>
              <a:rPr lang="en-US" sz="1600" dirty="0">
                <a:solidFill>
                  <a:srgbClr val="4A3E36"/>
                </a:solidFill>
              </a:rPr>
              <a:t>Transactions grew 104%, while the average ticket moved only from USD 4.72 to USD 4.71 and items per transaction from 1.436 to 1.441.</a:t>
            </a:r>
          </a:p>
          <a:p>
            <a:pPr marL="0" indent="0" algn="l">
              <a:spcBef>
                <a:spcPts val="1900"/>
              </a:spcBef>
              <a:buNone/>
            </a:pPr>
            <a:r>
              <a:rPr lang="en-US" sz="2000" b="1" dirty="0">
                <a:solidFill>
                  <a:srgbClr val="B5533C"/>
                </a:solidFill>
              </a:rPr>
              <a:t>03   </a:t>
            </a:r>
            <a:r>
              <a:rPr lang="en-US" sz="2000" b="1" dirty="0">
                <a:solidFill>
                  <a:srgbClr val="2B2622"/>
                </a:solidFill>
              </a:rPr>
              <a:t>The morning is the business</a:t>
            </a:r>
          </a:p>
          <a:p>
            <a:pPr marL="381000" indent="0" algn="l">
              <a:spcBef>
                <a:spcPts val="400"/>
              </a:spcBef>
              <a:buNone/>
            </a:pPr>
            <a:r>
              <a:rPr lang="en-US" sz="1600" dirty="0">
                <a:solidFill>
                  <a:srgbClr val="4A3E36"/>
                </a:solidFill>
              </a:rPr>
              <a:t>07:00–11:00 carries 45.8% of total revenue and the pattern holds in all three stores. The 20:00 hour contributes 0.5% of June revenue.</a:t>
            </a:r>
          </a:p>
          <a:p>
            <a:pPr marL="0" indent="0" algn="l">
              <a:spcBef>
                <a:spcPts val="1900"/>
              </a:spcBef>
              <a:buNone/>
            </a:pPr>
            <a:r>
              <a:rPr lang="en-US" sz="2000" b="1" dirty="0">
                <a:solidFill>
                  <a:srgbClr val="B5533C"/>
                </a:solidFill>
              </a:rPr>
              <a:t>04   </a:t>
            </a:r>
            <a:r>
              <a:rPr lang="en-US" sz="2000" b="1" dirty="0">
                <a:solidFill>
                  <a:srgbClr val="2B2622"/>
                </a:solidFill>
              </a:rPr>
              <a:t>Three stores of equal size, different mix</a:t>
            </a:r>
          </a:p>
          <a:p>
            <a:pPr marL="381000" indent="0" algn="l">
              <a:spcBef>
                <a:spcPts val="400"/>
              </a:spcBef>
              <a:buNone/>
            </a:pPr>
            <a:r>
              <a:rPr lang="en-US" sz="1600" dirty="0">
                <a:solidFill>
                  <a:srgbClr val="4A3E36"/>
                </a:solidFill>
              </a:rPr>
              <a:t>Revenue spread is under 3% (USD 230.1k–236.5k), but Lower Manhattan sells the highest average ticket, USD 4.81, on 5.8% fewer transactions.</a:t>
            </a:r>
          </a:p>
        </p:txBody>
      </p:sp>
      <p:sp>
        <p:nvSpPr>
          <p:cNvPr id="50" name="Kicker"/>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Four findings that drive every recommendation in this report</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Tree>
    <p:extLst>
      <p:ext uri="{BB962C8B-B14F-4D97-AF65-F5344CB8AC3E}">
        <p14:creationId xmlns:p14="http://schemas.microsoft.com/office/powerpoint/2010/main" val="3946981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35AFA-D494-1B4D-C79C-8578CF94C597}"/>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Scope, data and definitions</a:t>
            </a:r>
          </a:p>
        </p:txBody>
      </p:sp>
      <p:sp>
        <p:nvSpPr>
          <p:cNvPr id="3" name="Content Placeholder 2">
            <a:extLst>
              <a:ext uri="{FF2B5EF4-FFF2-40B4-BE49-F238E27FC236}">
                <a16:creationId xmlns:a16="http://schemas.microsoft.com/office/drawing/2014/main" id="{4544B4A0-394E-FFF3-14C8-C35A7D0A6439}"/>
              </a:ext>
            </a:extLst>
          </p:cNvPr>
          <p:cNvSpPr>
            <a:spLocks noGrp="1"/>
          </p:cNvSpPr>
          <p:nvPr>
            <p:ph sz="half" idx="1"/>
          </p:nvPr>
        </p:nvSpPr>
        <p:spPr>
          <a:xfrm>
            <a:off x="838200" y="1778000"/>
            <a:ext cx="5029200" cy="4064000"/>
          </a:xfrm>
        </p:spPr>
        <p:txBody>
          <a:bodyPr/>
          <a:lstStyle/>
          <a:p>
            <a:pPr marL="0" indent="0" algn="l">
              <a:spcBef>
                <a:spcPts val="0"/>
              </a:spcBef>
              <a:buNone/>
            </a:pPr>
            <a:r>
              <a:rPr lang="en-US" sz="1900" b="1" dirty="0">
                <a:solidFill>
                  <a:srgbClr val="B5533C"/>
                </a:solidFill>
              </a:rPr>
              <a:t>Scope</a:t>
            </a:r>
          </a:p>
          <a:p>
            <a:pPr marL="0" indent="0" algn="l">
              <a:spcBef>
                <a:spcPts val="1100"/>
              </a:spcBef>
              <a:buNone/>
            </a:pPr>
            <a:r>
              <a:rPr lang="en-US" sz="1650" b="1" dirty="0">
                <a:solidFill>
                  <a:srgbClr val="2B2622"/>
                </a:solidFill>
              </a:rPr>
              <a:t>Period  </a:t>
            </a:r>
            <a:r>
              <a:rPr lang="en-US" sz="1650" dirty="0">
                <a:solidFill>
                  <a:srgbClr val="4A3E36"/>
                </a:solidFill>
              </a:rPr>
              <a:t>1 January – 30 June 2023 (six months).</a:t>
            </a:r>
          </a:p>
          <a:p>
            <a:pPr marL="0" indent="0" algn="l">
              <a:spcBef>
                <a:spcPts val="1500"/>
              </a:spcBef>
              <a:buNone/>
            </a:pPr>
            <a:r>
              <a:rPr lang="en-US" sz="1650" b="1" dirty="0">
                <a:solidFill>
                  <a:srgbClr val="2B2622"/>
                </a:solidFill>
              </a:rPr>
              <a:t>Stores  </a:t>
            </a:r>
            <a:r>
              <a:rPr lang="en-US" sz="1650" dirty="0">
                <a:solidFill>
                  <a:srgbClr val="4A3E36"/>
                </a:solidFill>
              </a:rPr>
              <a:t>Astoria, Hell’s Kitchen, Lower Manhattan.</a:t>
            </a:r>
          </a:p>
          <a:p>
            <a:pPr marL="0" indent="0" algn="l">
              <a:spcBef>
                <a:spcPts val="1500"/>
              </a:spcBef>
              <a:buNone/>
            </a:pPr>
            <a:r>
              <a:rPr lang="en-US" sz="1650" b="1" dirty="0">
                <a:solidFill>
                  <a:srgbClr val="2B2622"/>
                </a:solidFill>
              </a:rPr>
              <a:t>Volume  </a:t>
            </a:r>
            <a:r>
              <a:rPr lang="en-US" sz="1650" dirty="0">
                <a:solidFill>
                  <a:srgbClr val="4A3E36"/>
                </a:solidFill>
              </a:rPr>
              <a:t>149,116 transaction lines, 214,470 units.</a:t>
            </a:r>
          </a:p>
          <a:p>
            <a:pPr marL="0" indent="0" algn="l">
              <a:spcBef>
                <a:spcPts val="1500"/>
              </a:spcBef>
              <a:buNone/>
            </a:pPr>
            <a:r>
              <a:rPr lang="en-US" sz="1650" b="1" dirty="0">
                <a:solidFill>
                  <a:srgbClr val="2B2622"/>
                </a:solidFill>
              </a:rPr>
              <a:t>Source  </a:t>
            </a:r>
            <a:r>
              <a:rPr lang="en-US" sz="1650" dirty="0">
                <a:solidFill>
                  <a:srgbClr val="4A3E36"/>
                </a:solidFill>
              </a:rPr>
              <a:t>Public “Coffee Shop Sales” dataset (Maven Analytics); raw transaction-level extract, no sampling.</a:t>
            </a:r>
          </a:p>
          <a:p>
            <a:pPr marL="0" indent="0" algn="l">
              <a:spcBef>
                <a:spcPts val="1500"/>
              </a:spcBef>
              <a:buNone/>
            </a:pPr>
            <a:r>
              <a:rPr lang="en-US" sz="1650" b="1" dirty="0">
                <a:solidFill>
                  <a:srgbClr val="2B2622"/>
                </a:solidFill>
              </a:rPr>
              <a:t>Build  </a:t>
            </a:r>
            <a:r>
              <a:rPr lang="en-US" sz="1650" dirty="0">
                <a:solidFill>
                  <a:srgbClr val="4A3E36"/>
                </a:solidFill>
              </a:rPr>
              <a:t>Source table feeding a pivot layer; every dashboard figure is a formula, no typed numbers.</a:t>
            </a:r>
          </a:p>
        </p:txBody>
      </p:sp>
      <p:sp>
        <p:nvSpPr>
          <p:cNvPr id="4" name="Content Placeholder 3">
            <a:extLst>
              <a:ext uri="{FF2B5EF4-FFF2-40B4-BE49-F238E27FC236}">
                <a16:creationId xmlns:a16="http://schemas.microsoft.com/office/drawing/2014/main" id="{871F5713-C03D-CBC7-71A6-C56D60D28889}"/>
              </a:ext>
            </a:extLst>
          </p:cNvPr>
          <p:cNvSpPr>
            <a:spLocks noGrp="1"/>
          </p:cNvSpPr>
          <p:nvPr>
            <p:ph sz="half" idx="2"/>
          </p:nvPr>
        </p:nvSpPr>
        <p:spPr>
          <a:xfrm>
            <a:off x="6350000" y="1778000"/>
            <a:ext cx="5003800" cy="4064000"/>
          </a:xfrm>
        </p:spPr>
        <p:txBody>
          <a:bodyPr/>
          <a:lstStyle/>
          <a:p>
            <a:pPr marL="0" indent="0" algn="l">
              <a:spcBef>
                <a:spcPts val="0"/>
              </a:spcBef>
              <a:buNone/>
            </a:pPr>
            <a:r>
              <a:rPr lang="en-US" sz="1900" b="1" dirty="0">
                <a:solidFill>
                  <a:srgbClr val="B5533C"/>
                </a:solidFill>
              </a:rPr>
              <a:t>Definitions</a:t>
            </a:r>
          </a:p>
          <a:p>
            <a:pPr marL="0" indent="0" algn="l">
              <a:spcBef>
                <a:spcPts val="1100"/>
              </a:spcBef>
              <a:buNone/>
            </a:pPr>
            <a:r>
              <a:rPr lang="en-US" sz="1650" b="1" dirty="0">
                <a:solidFill>
                  <a:srgbClr val="2B2622"/>
                </a:solidFill>
              </a:rPr>
              <a:t>Revenue  </a:t>
            </a:r>
            <a:r>
              <a:rPr lang="en-US" sz="1650" dirty="0">
                <a:solidFill>
                  <a:srgbClr val="4A3E36"/>
                </a:solidFill>
              </a:rPr>
              <a:t>unit price × quantity, calculated per transaction line.</a:t>
            </a:r>
          </a:p>
          <a:p>
            <a:pPr marL="0" indent="0" algn="l">
              <a:spcBef>
                <a:spcPts val="1500"/>
              </a:spcBef>
              <a:buNone/>
            </a:pPr>
            <a:r>
              <a:rPr lang="en-US" sz="1650" b="1" dirty="0">
                <a:solidFill>
                  <a:srgbClr val="2B2622"/>
                </a:solidFill>
              </a:rPr>
              <a:t>Transaction  </a:t>
            </a:r>
            <a:r>
              <a:rPr lang="en-US" sz="1650" dirty="0">
                <a:solidFill>
                  <a:srgbClr val="4A3E36"/>
                </a:solidFill>
              </a:rPr>
              <a:t>One source row = one transaction line; the ID is unique, so the count equals the row count.</a:t>
            </a:r>
          </a:p>
          <a:p>
            <a:pPr marL="0" indent="0" algn="l">
              <a:spcBef>
                <a:spcPts val="1500"/>
              </a:spcBef>
              <a:buNone/>
            </a:pPr>
            <a:r>
              <a:rPr lang="en-US" sz="1650" b="1" dirty="0">
                <a:solidFill>
                  <a:srgbClr val="2B2622"/>
                </a:solidFill>
              </a:rPr>
              <a:t>Average ticket  </a:t>
            </a:r>
            <a:r>
              <a:rPr lang="en-US" sz="1650" dirty="0">
                <a:solidFill>
                  <a:srgbClr val="4A3E36"/>
                </a:solidFill>
              </a:rPr>
              <a:t>Revenue divided by number of transactions.</a:t>
            </a:r>
          </a:p>
          <a:p>
            <a:pPr marL="0" indent="0" algn="l">
              <a:spcBef>
                <a:spcPts val="1500"/>
              </a:spcBef>
              <a:buNone/>
            </a:pPr>
            <a:r>
              <a:rPr lang="en-US" sz="1650" b="1" dirty="0">
                <a:solidFill>
                  <a:srgbClr val="2B2622"/>
                </a:solidFill>
              </a:rPr>
              <a:t>Weekday  </a:t>
            </a:r>
            <a:r>
              <a:rPr lang="en-US" sz="1650" dirty="0">
                <a:solidFill>
                  <a:srgbClr val="4A3E36"/>
                </a:solidFill>
              </a:rPr>
              <a:t>Monday = 1 through Sunday = 7.</a:t>
            </a:r>
          </a:p>
          <a:p>
            <a:pPr marL="0" indent="0" algn="l">
              <a:spcBef>
                <a:spcPts val="1500"/>
              </a:spcBef>
              <a:buNone/>
            </a:pPr>
            <a:r>
              <a:rPr lang="en-US" sz="1650" b="1" dirty="0">
                <a:solidFill>
                  <a:srgbClr val="2B2622"/>
                </a:solidFill>
              </a:rPr>
              <a:t>Hour  </a:t>
            </a:r>
            <a:r>
              <a:rPr lang="en-US" sz="1650" dirty="0">
                <a:solidFill>
                  <a:srgbClr val="4A3E36"/>
                </a:solidFill>
              </a:rPr>
              <a:t>Hour of transaction start. Trading hours run 06:00 to 20:00.</a:t>
            </a:r>
          </a:p>
        </p:txBody>
      </p:sp>
      <p:sp>
        <p:nvSpPr>
          <p:cNvPr id="50" name="Kicker"/>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What was measured, how it was measured, and what the figures mean</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Divider"/>
          <p:cNvSpPr/>
          <p:nvPr/>
        </p:nvSpPr>
        <p:spPr>
          <a:xfrm>
            <a:off x="6096000" y="1854200"/>
            <a:ext cx="12700" cy="3810000"/>
          </a:xfrm>
          <a:prstGeom prst="rect">
            <a:avLst/>
          </a:prstGeom>
          <a:solidFill>
            <a:srgbClr val="DFD3C4"/>
          </a:solidFill>
          <a:ln>
            <a:noFill/>
          </a:ln>
        </p:spPr>
        <p:txBody>
          <a:bodyPr/>
          <a:lstStyle/>
          <a:p>
            <a:endParaRPr lang="en-US"/>
          </a:p>
        </p:txBody>
      </p:sp>
    </p:spTree>
    <p:extLst>
      <p:ext uri="{BB962C8B-B14F-4D97-AF65-F5344CB8AC3E}">
        <p14:creationId xmlns:p14="http://schemas.microsoft.com/office/powerpoint/2010/main" val="182090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339D0-C76C-B95D-2CD6-6AE44F16D179}"/>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Headline figures</a:t>
            </a:r>
          </a:p>
        </p:txBody>
      </p:sp>
      <p:sp>
        <p:nvSpPr>
          <p:cNvPr id="60" name="Kicker"/>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Six months, three stores · January–June 2023 · all values in USD</a:t>
            </a:r>
          </a:p>
        </p:txBody>
      </p:sp>
      <p:sp>
        <p:nvSpPr>
          <p:cNvPr id="6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62" name="Card"/>
          <p:cNvSpPr/>
          <p:nvPr/>
        </p:nvSpPr>
        <p:spPr>
          <a:xfrm>
            <a:off x="838200" y="1854200"/>
            <a:ext cx="2476500" cy="1676400"/>
          </a:xfrm>
          <a:prstGeom prst="rect">
            <a:avLst/>
          </a:prstGeom>
          <a:solidFill>
            <a:srgbClr val="F1E8DC"/>
          </a:solidFill>
          <a:ln>
            <a:noFill/>
          </a:ln>
        </p:spPr>
        <p:txBody>
          <a:bodyPr/>
          <a:lstStyle/>
          <a:p>
            <a:endParaRPr lang="en-US"/>
          </a:p>
        </p:txBody>
      </p:sp>
      <p:sp>
        <p:nvSpPr>
          <p:cNvPr id="63" name="Card top"/>
          <p:cNvSpPr/>
          <p:nvPr/>
        </p:nvSpPr>
        <p:spPr>
          <a:xfrm>
            <a:off x="838200" y="1854200"/>
            <a:ext cx="2476500" cy="50800"/>
          </a:xfrm>
          <a:prstGeom prst="rect">
            <a:avLst/>
          </a:prstGeom>
          <a:solidFill>
            <a:srgbClr val="B5533C"/>
          </a:solidFill>
          <a:ln>
            <a:noFill/>
          </a:ln>
        </p:spPr>
        <p:txBody>
          <a:bodyPr/>
          <a:lstStyle/>
          <a:p>
            <a:endParaRPr lang="en-US"/>
          </a:p>
        </p:txBody>
      </p:sp>
      <p:sp>
        <p:nvSpPr>
          <p:cNvPr id="64" name="Card value"/>
          <p:cNvSpPr txBox="1"/>
          <p:nvPr/>
        </p:nvSpPr>
        <p:spPr>
          <a:xfrm>
            <a:off x="1066800" y="2235200"/>
            <a:ext cx="2019300" cy="635000"/>
          </a:xfrm>
          <a:prstGeom prst="rect">
            <a:avLst/>
          </a:prstGeom>
          <a:noFill/>
        </p:spPr>
        <p:txBody>
          <a:bodyPr wrap="square" lIns="0" tIns="0" rIns="0" bIns="0" anchor="t"/>
          <a:lstStyle/>
          <a:p>
            <a:pPr algn="l">
              <a:buNone/>
            </a:pPr>
            <a:r>
              <a:rPr lang="en-US" sz="2800" b="1" dirty="0">
                <a:solidFill>
                  <a:srgbClr val="2B2622"/>
                </a:solidFill>
              </a:rPr>
              <a:t>698,812</a:t>
            </a:r>
          </a:p>
        </p:txBody>
      </p:sp>
      <p:sp>
        <p:nvSpPr>
          <p:cNvPr id="65" name="Card label"/>
          <p:cNvSpPr txBox="1"/>
          <p:nvPr/>
        </p:nvSpPr>
        <p:spPr>
          <a:xfrm>
            <a:off x="1066800" y="2946400"/>
            <a:ext cx="2019300" cy="355600"/>
          </a:xfrm>
          <a:prstGeom prst="rect">
            <a:avLst/>
          </a:prstGeom>
          <a:noFill/>
        </p:spPr>
        <p:txBody>
          <a:bodyPr wrap="square" lIns="0" tIns="0" rIns="0" bIns="0" anchor="t"/>
          <a:lstStyle/>
          <a:p>
            <a:pPr algn="l">
              <a:buNone/>
            </a:pPr>
            <a:r>
              <a:rPr lang="en-US" sz="1400" spc="120" dirty="0">
                <a:solidFill>
                  <a:srgbClr val="6E6058"/>
                </a:solidFill>
              </a:rPr>
              <a:t>TOTAL REVENUE</a:t>
            </a:r>
          </a:p>
        </p:txBody>
      </p:sp>
      <p:sp>
        <p:nvSpPr>
          <p:cNvPr id="66" name="Card"/>
          <p:cNvSpPr/>
          <p:nvPr/>
        </p:nvSpPr>
        <p:spPr>
          <a:xfrm>
            <a:off x="3517900" y="1854200"/>
            <a:ext cx="2476500" cy="1676400"/>
          </a:xfrm>
          <a:prstGeom prst="rect">
            <a:avLst/>
          </a:prstGeom>
          <a:solidFill>
            <a:srgbClr val="F1E8DC"/>
          </a:solidFill>
          <a:ln>
            <a:noFill/>
          </a:ln>
        </p:spPr>
        <p:txBody>
          <a:bodyPr/>
          <a:lstStyle/>
          <a:p>
            <a:endParaRPr lang="en-US"/>
          </a:p>
        </p:txBody>
      </p:sp>
      <p:sp>
        <p:nvSpPr>
          <p:cNvPr id="67" name="Card top"/>
          <p:cNvSpPr/>
          <p:nvPr/>
        </p:nvSpPr>
        <p:spPr>
          <a:xfrm>
            <a:off x="3517900" y="1854200"/>
            <a:ext cx="2476500" cy="50800"/>
          </a:xfrm>
          <a:prstGeom prst="rect">
            <a:avLst/>
          </a:prstGeom>
          <a:solidFill>
            <a:srgbClr val="B5533C"/>
          </a:solidFill>
          <a:ln>
            <a:noFill/>
          </a:ln>
        </p:spPr>
        <p:txBody>
          <a:bodyPr/>
          <a:lstStyle/>
          <a:p>
            <a:endParaRPr lang="en-US"/>
          </a:p>
        </p:txBody>
      </p:sp>
      <p:sp>
        <p:nvSpPr>
          <p:cNvPr id="68" name="Card value"/>
          <p:cNvSpPr txBox="1"/>
          <p:nvPr/>
        </p:nvSpPr>
        <p:spPr>
          <a:xfrm>
            <a:off x="3746500" y="2235200"/>
            <a:ext cx="2019300" cy="635000"/>
          </a:xfrm>
          <a:prstGeom prst="rect">
            <a:avLst/>
          </a:prstGeom>
          <a:noFill/>
        </p:spPr>
        <p:txBody>
          <a:bodyPr wrap="square" lIns="0" tIns="0" rIns="0" bIns="0" anchor="t"/>
          <a:lstStyle/>
          <a:p>
            <a:pPr algn="l">
              <a:buNone/>
            </a:pPr>
            <a:r>
              <a:rPr lang="en-US" sz="2800" b="1" dirty="0">
                <a:solidFill>
                  <a:srgbClr val="2B2622"/>
                </a:solidFill>
              </a:rPr>
              <a:t>149,116</a:t>
            </a:r>
          </a:p>
        </p:txBody>
      </p:sp>
      <p:sp>
        <p:nvSpPr>
          <p:cNvPr id="69" name="Card label"/>
          <p:cNvSpPr txBox="1"/>
          <p:nvPr/>
        </p:nvSpPr>
        <p:spPr>
          <a:xfrm>
            <a:off x="3746500" y="2946400"/>
            <a:ext cx="2019300" cy="355600"/>
          </a:xfrm>
          <a:prstGeom prst="rect">
            <a:avLst/>
          </a:prstGeom>
          <a:noFill/>
        </p:spPr>
        <p:txBody>
          <a:bodyPr wrap="square" lIns="0" tIns="0" rIns="0" bIns="0" anchor="t"/>
          <a:lstStyle/>
          <a:p>
            <a:pPr algn="l">
              <a:buNone/>
            </a:pPr>
            <a:r>
              <a:rPr lang="en-US" sz="1400" spc="120" dirty="0">
                <a:solidFill>
                  <a:srgbClr val="6E6058"/>
                </a:solidFill>
              </a:rPr>
              <a:t>TRANSACTIONS</a:t>
            </a:r>
          </a:p>
        </p:txBody>
      </p:sp>
      <p:sp>
        <p:nvSpPr>
          <p:cNvPr id="70" name="Card"/>
          <p:cNvSpPr/>
          <p:nvPr/>
        </p:nvSpPr>
        <p:spPr>
          <a:xfrm>
            <a:off x="6197600" y="1854200"/>
            <a:ext cx="2476500" cy="1676400"/>
          </a:xfrm>
          <a:prstGeom prst="rect">
            <a:avLst/>
          </a:prstGeom>
          <a:solidFill>
            <a:srgbClr val="F1E8DC"/>
          </a:solidFill>
          <a:ln>
            <a:noFill/>
          </a:ln>
        </p:spPr>
        <p:txBody>
          <a:bodyPr/>
          <a:lstStyle/>
          <a:p>
            <a:endParaRPr lang="en-US"/>
          </a:p>
        </p:txBody>
      </p:sp>
      <p:sp>
        <p:nvSpPr>
          <p:cNvPr id="71" name="Card top"/>
          <p:cNvSpPr/>
          <p:nvPr/>
        </p:nvSpPr>
        <p:spPr>
          <a:xfrm>
            <a:off x="6197600" y="1854200"/>
            <a:ext cx="2476500" cy="50800"/>
          </a:xfrm>
          <a:prstGeom prst="rect">
            <a:avLst/>
          </a:prstGeom>
          <a:solidFill>
            <a:srgbClr val="B5533C"/>
          </a:solidFill>
          <a:ln>
            <a:noFill/>
          </a:ln>
        </p:spPr>
        <p:txBody>
          <a:bodyPr/>
          <a:lstStyle/>
          <a:p>
            <a:endParaRPr lang="en-US"/>
          </a:p>
        </p:txBody>
      </p:sp>
      <p:sp>
        <p:nvSpPr>
          <p:cNvPr id="72" name="Card value"/>
          <p:cNvSpPr txBox="1"/>
          <p:nvPr/>
        </p:nvSpPr>
        <p:spPr>
          <a:xfrm>
            <a:off x="6426200" y="2235200"/>
            <a:ext cx="2019300" cy="635000"/>
          </a:xfrm>
          <a:prstGeom prst="rect">
            <a:avLst/>
          </a:prstGeom>
          <a:noFill/>
        </p:spPr>
        <p:txBody>
          <a:bodyPr wrap="square" lIns="0" tIns="0" rIns="0" bIns="0" anchor="t"/>
          <a:lstStyle/>
          <a:p>
            <a:pPr algn="l">
              <a:buNone/>
            </a:pPr>
            <a:r>
              <a:rPr lang="en-US" sz="2800" b="1" dirty="0">
                <a:solidFill>
                  <a:srgbClr val="2B2622"/>
                </a:solidFill>
              </a:rPr>
              <a:t>4.69</a:t>
            </a:r>
          </a:p>
        </p:txBody>
      </p:sp>
      <p:sp>
        <p:nvSpPr>
          <p:cNvPr id="73" name="Card label"/>
          <p:cNvSpPr txBox="1"/>
          <p:nvPr/>
        </p:nvSpPr>
        <p:spPr>
          <a:xfrm>
            <a:off x="6426200" y="2946400"/>
            <a:ext cx="2019300" cy="355600"/>
          </a:xfrm>
          <a:prstGeom prst="rect">
            <a:avLst/>
          </a:prstGeom>
          <a:noFill/>
        </p:spPr>
        <p:txBody>
          <a:bodyPr wrap="square" lIns="0" tIns="0" rIns="0" bIns="0" anchor="t"/>
          <a:lstStyle/>
          <a:p>
            <a:pPr algn="l">
              <a:buNone/>
            </a:pPr>
            <a:r>
              <a:rPr lang="en-US" sz="1400" spc="120" dirty="0">
                <a:solidFill>
                  <a:srgbClr val="6E6058"/>
                </a:solidFill>
              </a:rPr>
              <a:t>AVERAGE TICKET</a:t>
            </a:r>
          </a:p>
        </p:txBody>
      </p:sp>
      <p:sp>
        <p:nvSpPr>
          <p:cNvPr id="74" name="Card"/>
          <p:cNvSpPr/>
          <p:nvPr/>
        </p:nvSpPr>
        <p:spPr>
          <a:xfrm>
            <a:off x="8877300" y="1854200"/>
            <a:ext cx="2476500" cy="1676400"/>
          </a:xfrm>
          <a:prstGeom prst="rect">
            <a:avLst/>
          </a:prstGeom>
          <a:solidFill>
            <a:srgbClr val="F1E8DC"/>
          </a:solidFill>
          <a:ln>
            <a:noFill/>
          </a:ln>
        </p:spPr>
        <p:txBody>
          <a:bodyPr/>
          <a:lstStyle/>
          <a:p>
            <a:endParaRPr lang="en-US"/>
          </a:p>
        </p:txBody>
      </p:sp>
      <p:sp>
        <p:nvSpPr>
          <p:cNvPr id="75" name="Card top"/>
          <p:cNvSpPr/>
          <p:nvPr/>
        </p:nvSpPr>
        <p:spPr>
          <a:xfrm>
            <a:off x="8877300" y="1854200"/>
            <a:ext cx="2476500" cy="50800"/>
          </a:xfrm>
          <a:prstGeom prst="rect">
            <a:avLst/>
          </a:prstGeom>
          <a:solidFill>
            <a:srgbClr val="B5533C"/>
          </a:solidFill>
          <a:ln>
            <a:noFill/>
          </a:ln>
        </p:spPr>
        <p:txBody>
          <a:bodyPr/>
          <a:lstStyle/>
          <a:p>
            <a:endParaRPr lang="en-US"/>
          </a:p>
        </p:txBody>
      </p:sp>
      <p:sp>
        <p:nvSpPr>
          <p:cNvPr id="76" name="Card value"/>
          <p:cNvSpPr txBox="1"/>
          <p:nvPr/>
        </p:nvSpPr>
        <p:spPr>
          <a:xfrm>
            <a:off x="9105900" y="2235200"/>
            <a:ext cx="2019300" cy="635000"/>
          </a:xfrm>
          <a:prstGeom prst="rect">
            <a:avLst/>
          </a:prstGeom>
          <a:noFill/>
        </p:spPr>
        <p:txBody>
          <a:bodyPr wrap="square" lIns="0" tIns="0" rIns="0" bIns="0" anchor="t"/>
          <a:lstStyle/>
          <a:p>
            <a:pPr algn="l">
              <a:buNone/>
            </a:pPr>
            <a:r>
              <a:rPr lang="en-US" sz="2800" b="1" dirty="0">
                <a:solidFill>
                  <a:srgbClr val="2B2622"/>
                </a:solidFill>
              </a:rPr>
              <a:t>214,470</a:t>
            </a:r>
          </a:p>
        </p:txBody>
      </p:sp>
      <p:sp>
        <p:nvSpPr>
          <p:cNvPr id="77" name="Card label"/>
          <p:cNvSpPr txBox="1"/>
          <p:nvPr/>
        </p:nvSpPr>
        <p:spPr>
          <a:xfrm>
            <a:off x="9105900" y="2946400"/>
            <a:ext cx="2019300" cy="355600"/>
          </a:xfrm>
          <a:prstGeom prst="rect">
            <a:avLst/>
          </a:prstGeom>
          <a:noFill/>
        </p:spPr>
        <p:txBody>
          <a:bodyPr wrap="square" lIns="0" tIns="0" rIns="0" bIns="0" anchor="t"/>
          <a:lstStyle/>
          <a:p>
            <a:pPr algn="l">
              <a:buNone/>
            </a:pPr>
            <a:r>
              <a:rPr lang="en-US" sz="1400" spc="120" dirty="0">
                <a:solidFill>
                  <a:srgbClr val="6E6058"/>
                </a:solidFill>
              </a:rPr>
              <a:t>UNITS SOLD</a:t>
            </a:r>
          </a:p>
        </p:txBody>
      </p:sp>
      <p:sp>
        <p:nvSpPr>
          <p:cNvPr id="78" name="Card2"/>
          <p:cNvSpPr/>
          <p:nvPr/>
        </p:nvSpPr>
        <p:spPr>
          <a:xfrm>
            <a:off x="838200" y="3759200"/>
            <a:ext cx="2476500" cy="1371600"/>
          </a:xfrm>
          <a:prstGeom prst="rect">
            <a:avLst/>
          </a:prstGeom>
          <a:solidFill>
            <a:srgbClr val="EDE3D6"/>
          </a:solidFill>
          <a:ln>
            <a:noFill/>
          </a:ln>
        </p:spPr>
        <p:txBody>
          <a:bodyPr/>
          <a:lstStyle/>
          <a:p>
            <a:endParaRPr lang="en-US"/>
          </a:p>
        </p:txBody>
      </p:sp>
      <p:sp>
        <p:nvSpPr>
          <p:cNvPr id="79" name="Card2 value"/>
          <p:cNvSpPr txBox="1"/>
          <p:nvPr/>
        </p:nvSpPr>
        <p:spPr>
          <a:xfrm>
            <a:off x="1066800" y="4038600"/>
            <a:ext cx="2019300" cy="431800"/>
          </a:xfrm>
          <a:prstGeom prst="rect">
            <a:avLst/>
          </a:prstGeom>
          <a:noFill/>
        </p:spPr>
        <p:txBody>
          <a:bodyPr wrap="square" lIns="0" tIns="0" rIns="0" bIns="0" anchor="t"/>
          <a:lstStyle/>
          <a:p>
            <a:pPr algn="l">
              <a:buNone/>
            </a:pPr>
            <a:r>
              <a:rPr lang="en-US" sz="2200" b="1" dirty="0">
                <a:solidFill>
                  <a:srgbClr val="6E7B52"/>
                </a:solidFill>
              </a:rPr>
              <a:t>+103.8%</a:t>
            </a:r>
          </a:p>
        </p:txBody>
      </p:sp>
      <p:sp>
        <p:nvSpPr>
          <p:cNvPr id="80" name="Card2 label"/>
          <p:cNvSpPr txBox="1"/>
          <p:nvPr/>
        </p:nvSpPr>
        <p:spPr>
          <a:xfrm>
            <a:off x="1066800" y="4521200"/>
            <a:ext cx="2019300" cy="508000"/>
          </a:xfrm>
          <a:prstGeom prst="rect">
            <a:avLst/>
          </a:prstGeom>
          <a:noFill/>
        </p:spPr>
        <p:txBody>
          <a:bodyPr wrap="square" lIns="0" tIns="0" rIns="0" bIns="0" anchor="t"/>
          <a:lstStyle/>
          <a:p>
            <a:pPr algn="l">
              <a:lnSpc>
                <a:spcPct val="105000"/>
              </a:lnSpc>
              <a:buNone/>
            </a:pPr>
            <a:r>
              <a:rPr lang="en-US" sz="1400" dirty="0">
                <a:solidFill>
                  <a:srgbClr val="6E6058"/>
                </a:solidFill>
              </a:rPr>
              <a:t>Revenue growth, Jan–Jun</a:t>
            </a:r>
          </a:p>
        </p:txBody>
      </p:sp>
      <p:sp>
        <p:nvSpPr>
          <p:cNvPr id="81" name="Card2"/>
          <p:cNvSpPr/>
          <p:nvPr/>
        </p:nvSpPr>
        <p:spPr>
          <a:xfrm>
            <a:off x="3517900" y="3759200"/>
            <a:ext cx="2476500" cy="1371600"/>
          </a:xfrm>
          <a:prstGeom prst="rect">
            <a:avLst/>
          </a:prstGeom>
          <a:solidFill>
            <a:srgbClr val="EDE3D6"/>
          </a:solidFill>
          <a:ln>
            <a:noFill/>
          </a:ln>
        </p:spPr>
        <p:txBody>
          <a:bodyPr/>
          <a:lstStyle/>
          <a:p>
            <a:endParaRPr lang="en-US"/>
          </a:p>
        </p:txBody>
      </p:sp>
      <p:sp>
        <p:nvSpPr>
          <p:cNvPr id="82" name="Card2 value"/>
          <p:cNvSpPr txBox="1"/>
          <p:nvPr/>
        </p:nvSpPr>
        <p:spPr>
          <a:xfrm>
            <a:off x="3746500" y="4038600"/>
            <a:ext cx="2019300" cy="431800"/>
          </a:xfrm>
          <a:prstGeom prst="rect">
            <a:avLst/>
          </a:prstGeom>
          <a:noFill/>
        </p:spPr>
        <p:txBody>
          <a:bodyPr wrap="square" lIns="0" tIns="0" rIns="0" bIns="0" anchor="t"/>
          <a:lstStyle/>
          <a:p>
            <a:pPr algn="l">
              <a:buNone/>
            </a:pPr>
            <a:r>
              <a:rPr lang="en-US" sz="2200" b="1" dirty="0">
                <a:solidFill>
                  <a:srgbClr val="6E7B52"/>
                </a:solidFill>
              </a:rPr>
              <a:t>1.44</a:t>
            </a:r>
          </a:p>
        </p:txBody>
      </p:sp>
      <p:sp>
        <p:nvSpPr>
          <p:cNvPr id="83" name="Card2 label"/>
          <p:cNvSpPr txBox="1"/>
          <p:nvPr/>
        </p:nvSpPr>
        <p:spPr>
          <a:xfrm>
            <a:off x="3746500" y="4521200"/>
            <a:ext cx="2019300" cy="508000"/>
          </a:xfrm>
          <a:prstGeom prst="rect">
            <a:avLst/>
          </a:prstGeom>
          <a:noFill/>
        </p:spPr>
        <p:txBody>
          <a:bodyPr wrap="square" lIns="0" tIns="0" rIns="0" bIns="0" anchor="t"/>
          <a:lstStyle/>
          <a:p>
            <a:pPr algn="l">
              <a:lnSpc>
                <a:spcPct val="105000"/>
              </a:lnSpc>
              <a:buNone/>
            </a:pPr>
            <a:r>
              <a:rPr lang="en-US" sz="1400" dirty="0">
                <a:solidFill>
                  <a:srgbClr val="6E6058"/>
                </a:solidFill>
              </a:rPr>
              <a:t>Items per transaction</a:t>
            </a:r>
          </a:p>
        </p:txBody>
      </p:sp>
      <p:sp>
        <p:nvSpPr>
          <p:cNvPr id="84" name="Card2"/>
          <p:cNvSpPr/>
          <p:nvPr/>
        </p:nvSpPr>
        <p:spPr>
          <a:xfrm>
            <a:off x="6197600" y="3759200"/>
            <a:ext cx="2476500" cy="1371600"/>
          </a:xfrm>
          <a:prstGeom prst="rect">
            <a:avLst/>
          </a:prstGeom>
          <a:solidFill>
            <a:srgbClr val="EDE3D6"/>
          </a:solidFill>
          <a:ln>
            <a:noFill/>
          </a:ln>
        </p:spPr>
        <p:txBody>
          <a:bodyPr/>
          <a:lstStyle/>
          <a:p>
            <a:endParaRPr lang="en-US"/>
          </a:p>
        </p:txBody>
      </p:sp>
      <p:sp>
        <p:nvSpPr>
          <p:cNvPr id="85" name="Card2 value"/>
          <p:cNvSpPr txBox="1"/>
          <p:nvPr/>
        </p:nvSpPr>
        <p:spPr>
          <a:xfrm>
            <a:off x="6426200" y="4038600"/>
            <a:ext cx="2019300" cy="431800"/>
          </a:xfrm>
          <a:prstGeom prst="rect">
            <a:avLst/>
          </a:prstGeom>
          <a:noFill/>
        </p:spPr>
        <p:txBody>
          <a:bodyPr wrap="square" lIns="0" tIns="0" rIns="0" bIns="0" anchor="t"/>
          <a:lstStyle/>
          <a:p>
            <a:pPr algn="l">
              <a:buNone/>
            </a:pPr>
            <a:r>
              <a:rPr lang="en-US" sz="2200" b="1" dirty="0">
                <a:solidFill>
                  <a:srgbClr val="6E7B52"/>
                </a:solidFill>
              </a:rPr>
              <a:t>3.26</a:t>
            </a:r>
          </a:p>
        </p:txBody>
      </p:sp>
      <p:sp>
        <p:nvSpPr>
          <p:cNvPr id="86" name="Card2 label"/>
          <p:cNvSpPr txBox="1"/>
          <p:nvPr/>
        </p:nvSpPr>
        <p:spPr>
          <a:xfrm>
            <a:off x="6426200" y="4521200"/>
            <a:ext cx="2019300" cy="508000"/>
          </a:xfrm>
          <a:prstGeom prst="rect">
            <a:avLst/>
          </a:prstGeom>
          <a:noFill/>
        </p:spPr>
        <p:txBody>
          <a:bodyPr wrap="square" lIns="0" tIns="0" rIns="0" bIns="0" anchor="t"/>
          <a:lstStyle/>
          <a:p>
            <a:pPr algn="l">
              <a:lnSpc>
                <a:spcPct val="105000"/>
              </a:lnSpc>
              <a:buNone/>
            </a:pPr>
            <a:r>
              <a:rPr lang="en-US" sz="1400" dirty="0">
                <a:solidFill>
                  <a:srgbClr val="6E6058"/>
                </a:solidFill>
              </a:rPr>
              <a:t>Average price per unit</a:t>
            </a:r>
          </a:p>
        </p:txBody>
      </p:sp>
      <p:sp>
        <p:nvSpPr>
          <p:cNvPr id="87" name="Card2"/>
          <p:cNvSpPr/>
          <p:nvPr/>
        </p:nvSpPr>
        <p:spPr>
          <a:xfrm>
            <a:off x="8877300" y="3759200"/>
            <a:ext cx="2476500" cy="1371600"/>
          </a:xfrm>
          <a:prstGeom prst="rect">
            <a:avLst/>
          </a:prstGeom>
          <a:solidFill>
            <a:srgbClr val="EDE3D6"/>
          </a:solidFill>
          <a:ln>
            <a:noFill/>
          </a:ln>
        </p:spPr>
        <p:txBody>
          <a:bodyPr/>
          <a:lstStyle/>
          <a:p>
            <a:endParaRPr lang="en-US"/>
          </a:p>
        </p:txBody>
      </p:sp>
      <p:sp>
        <p:nvSpPr>
          <p:cNvPr id="88" name="Card2 value"/>
          <p:cNvSpPr txBox="1"/>
          <p:nvPr/>
        </p:nvSpPr>
        <p:spPr>
          <a:xfrm>
            <a:off x="9105900" y="4038600"/>
            <a:ext cx="2019300" cy="431800"/>
          </a:xfrm>
          <a:prstGeom prst="rect">
            <a:avLst/>
          </a:prstGeom>
          <a:noFill/>
        </p:spPr>
        <p:txBody>
          <a:bodyPr wrap="square" lIns="0" tIns="0" rIns="0" bIns="0" anchor="t"/>
          <a:lstStyle/>
          <a:p>
            <a:pPr algn="l">
              <a:buNone/>
            </a:pPr>
            <a:r>
              <a:rPr lang="en-US" sz="2200" b="1" dirty="0">
                <a:solidFill>
                  <a:srgbClr val="6E7B52"/>
                </a:solidFill>
              </a:rPr>
              <a:t>06:00–20:00</a:t>
            </a:r>
          </a:p>
        </p:txBody>
      </p:sp>
      <p:sp>
        <p:nvSpPr>
          <p:cNvPr id="89" name="Card2 label"/>
          <p:cNvSpPr txBox="1"/>
          <p:nvPr/>
        </p:nvSpPr>
        <p:spPr>
          <a:xfrm>
            <a:off x="9105900" y="4521200"/>
            <a:ext cx="2019300" cy="508000"/>
          </a:xfrm>
          <a:prstGeom prst="rect">
            <a:avLst/>
          </a:prstGeom>
          <a:noFill/>
        </p:spPr>
        <p:txBody>
          <a:bodyPr wrap="square" lIns="0" tIns="0" rIns="0" bIns="0" anchor="t"/>
          <a:lstStyle/>
          <a:p>
            <a:pPr algn="l">
              <a:lnSpc>
                <a:spcPct val="105000"/>
              </a:lnSpc>
              <a:buNone/>
            </a:pPr>
            <a:r>
              <a:rPr lang="en-US" sz="1400" dirty="0">
                <a:solidFill>
                  <a:srgbClr val="6E6058"/>
                </a:solidFill>
              </a:rPr>
              <a:t>Trading hours in the data</a:t>
            </a:r>
          </a:p>
        </p:txBody>
      </p:sp>
      <p:sp>
        <p:nvSpPr>
          <p:cNvPr id="90" name="Takeaway"/>
          <p:cNvSpPr txBox="1"/>
          <p:nvPr/>
        </p:nvSpPr>
        <p:spPr>
          <a:xfrm>
            <a:off x="838200" y="5435600"/>
            <a:ext cx="10515600" cy="635000"/>
          </a:xfrm>
          <a:prstGeom prst="rect">
            <a:avLst/>
          </a:prstGeom>
          <a:noFill/>
        </p:spPr>
        <p:txBody>
          <a:bodyPr wrap="square" lIns="0" tIns="0" rIns="0" bIns="0" anchor="t"/>
          <a:lstStyle/>
          <a:p>
            <a:pPr algn="l">
              <a:lnSpc>
                <a:spcPct val="110000"/>
              </a:lnSpc>
              <a:buNone/>
            </a:pPr>
            <a:r>
              <a:rPr lang="en-US" sz="1500" dirty="0">
                <a:solidFill>
                  <a:srgbClr val="4A3E36"/>
                </a:solidFill>
              </a:rPr>
              <a:t>Read together, these figures describe a high-frequency, low-value business: a customer spends under five dollars and buys 1.4 items. Revenue therefore moves with the number of visits, which is where the rest of this report looks.</a:t>
            </a:r>
          </a:p>
        </p:txBody>
      </p:sp>
    </p:spTree>
    <p:extLst>
      <p:ext uri="{BB962C8B-B14F-4D97-AF65-F5344CB8AC3E}">
        <p14:creationId xmlns:p14="http://schemas.microsoft.com/office/powerpoint/2010/main" val="93610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E8D-67AA-2A15-E42E-7313815CE407}"/>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Revenue doubled between January and June</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February was the only decline; growth then ran for four consecutive months</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5562600"/>
            <a:ext cx="10515600" cy="558800"/>
          </a:xfrm>
          <a:prstGeom prst="rect">
            <a:avLst/>
          </a:prstGeom>
          <a:noFill/>
        </p:spPr>
        <p:txBody>
          <a:bodyPr wrap="square" lIns="0" tIns="0" rIns="0" bIns="0" anchor="t"/>
          <a:lstStyle/>
          <a:p>
            <a:pPr algn="l">
              <a:lnSpc>
                <a:spcPct val="110000"/>
              </a:lnSpc>
              <a:buNone/>
            </a:pPr>
            <a:r>
              <a:rPr lang="en-US" sz="1500" dirty="0">
                <a:solidFill>
                  <a:srgbClr val="4A3E36"/>
                </a:solidFill>
              </a:rPr>
              <a:t>With only six months of data, seasonality cannot be separated from underlying growth — part of the January-to-June rise is the normal spring build.</a:t>
            </a:r>
          </a:p>
        </p:txBody>
      </p:sp>
      <p:graphicFrame>
        <p:nvGraphicFramePr>
          <p:cNvPr id="53" name="Chart"/>
          <p:cNvGraphicFramePr/>
          <p:nvPr/>
        </p:nvGraphicFramePr>
        <p:xfrm>
          <a:off x="838200" y="1651000"/>
          <a:ext cx="10515600" cy="3810000"/>
        </p:xfrm>
        <a:graphic>
          <a:graphicData uri="http://schemas.openxmlformats.org/drawingml/2006/chart">
            <c:chart xmlns:c="http://schemas.openxmlformats.org/drawingml/2006/chart" xmlns:r="http://schemas.openxmlformats.org/officeDocument/2006/relationships" r:id="rId2"/>
          </a:graphicData>
        </a:graphic>
      </p:graphicFrame>
      <p:grpSp>
        <p:nvGrpSpPr>
          <p:cNvPr id="54" name="GrowthArrow f53 0"/>
          <p:cNvGrpSpPr/>
          <p:nvPr/>
        </p:nvGrpSpPr>
        <p:grpSpPr>
          <a:xfrm>
            <a:off x="2450592" y="2577336"/>
            <a:ext cx="7290816" cy="1082215"/>
            <a:chOff x="2450592" y="2577336"/>
            <a:chExt cx="7290816" cy="1082215"/>
          </a:xfrm>
        </p:grpSpPr>
        <p:cxnSp>
          <p:nvCxnSpPr>
            <p:cNvPr id="55" name="GrowthArrow f53 0 line"/>
            <p:cNvCxnSpPr/>
            <p:nvPr/>
          </p:nvCxnSpPr>
          <p:spPr>
            <a:xfrm flipV="1">
              <a:off x="2450592" y="2577336"/>
              <a:ext cx="7290816" cy="1082215"/>
            </a:xfrm>
            <a:prstGeom prst="line">
              <a:avLst/>
            </a:prstGeom>
            <a:ln w="12700">
              <a:solidFill>
                <a:srgbClr val="6E6058"/>
              </a:solidFill>
              <a:tailEnd type="triangle" w="med" len="med"/>
            </a:ln>
          </p:spPr>
        </p:cxnSp>
        <p:sp>
          <p:nvSpPr>
            <p:cNvPr id="56" name="GrowthArrow f53 0 label"/>
            <p:cNvSpPr txBox="1"/>
            <p:nvPr/>
          </p:nvSpPr>
          <p:spPr>
            <a:xfrm>
              <a:off x="5786000" y="3008444"/>
              <a:ext cx="620000" cy="220000"/>
            </a:xfrm>
            <a:prstGeom prst="rect">
              <a:avLst/>
            </a:prstGeom>
            <a:solidFill>
              <a:srgbClr val="FAF6F0"/>
            </a:solidFill>
          </p:spPr>
          <p:txBody>
            <a:bodyPr wrap="square" anchor="ctr">
              <a:normAutofit fontScale="55000" lnSpcReduction="20000"/>
            </a:bodyPr>
            <a:lstStyle/>
            <a:p>
              <a:pPr algn="ctr"/>
              <a:r>
                <a:rPr lang="en-US" sz="1500" b="1" dirty="0">
                  <a:solidFill>
                    <a:srgbClr val="6E6058"/>
                  </a:solidFill>
                  <a:latin typeface="Segoe UI"/>
                </a:rPr>
                <a:t>+103.8%</a:t>
              </a:r>
            </a:p>
          </p:txBody>
        </p:sp>
      </p:grpSp>
    </p:spTree>
    <p:extLst>
      <p:ext uri="{BB962C8B-B14F-4D97-AF65-F5344CB8AC3E}">
        <p14:creationId xmlns:p14="http://schemas.microsoft.com/office/powerpoint/2010/main" val="3398473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DDF7A-1EB3-3C19-CAE7-B233EB0A3631}"/>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The growth is volume, not price</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Indexed to January 2023 = 100 · transactions vs average ticket</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5257800"/>
            <a:ext cx="10515600" cy="889000"/>
          </a:xfrm>
          <a:prstGeom prst="rect">
            <a:avLst/>
          </a:prstGeom>
          <a:noFill/>
        </p:spPr>
        <p:txBody>
          <a:bodyPr wrap="square" lIns="0" tIns="0" rIns="0" bIns="0" anchor="t"/>
          <a:lstStyle/>
          <a:p>
            <a:pPr algn="l">
              <a:lnSpc>
                <a:spcPct val="112000"/>
              </a:lnSpc>
              <a:buNone/>
            </a:pPr>
            <a:r>
              <a:rPr lang="en-US" sz="1600" b="1" dirty="0">
                <a:solidFill>
                  <a:srgbClr val="2B2622"/>
                </a:solidFill>
              </a:rPr>
              <a:t>Transactions doubled; the basket did not move.  </a:t>
            </a:r>
            <a:r>
              <a:rPr lang="en-US" sz="1600" dirty="0">
                <a:solidFill>
                  <a:srgbClr val="4A3E36"/>
                </a:solidFill>
              </a:rPr>
              <a:t>The average ticket went from USD 4.72 to USD 4.71 and items per transaction from 1.436 to 1.441. Every dollar of additional revenue came from more visits, so there is no evidence yet of pricing or upselling effect — and no margin lever has been tested.</a:t>
            </a:r>
          </a:p>
        </p:txBody>
      </p:sp>
      <p:graphicFrame>
        <p:nvGraphicFramePr>
          <p:cNvPr id="53" name="Chart"/>
          <p:cNvGraphicFramePr/>
          <p:nvPr/>
        </p:nvGraphicFramePr>
        <p:xfrm>
          <a:off x="838200" y="1651000"/>
          <a:ext cx="10515600" cy="3352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6018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820E-04A6-9036-F161-EC47D259C214}"/>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Four morning hours carry 45.8% of revenue</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Revenue · USD thousands · all stores · by hour of day, Jan–Jun 2023</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5334000"/>
            <a:ext cx="10515600" cy="812800"/>
          </a:xfrm>
          <a:prstGeom prst="rect">
            <a:avLst/>
          </a:prstGeom>
          <a:noFill/>
        </p:spPr>
        <p:txBody>
          <a:bodyPr wrap="square" lIns="0" tIns="0" rIns="0" bIns="0" anchor="t"/>
          <a:lstStyle/>
          <a:p>
            <a:pPr algn="l">
              <a:lnSpc>
                <a:spcPct val="112000"/>
              </a:lnSpc>
              <a:buNone/>
            </a:pPr>
            <a:r>
              <a:rPr lang="en-US" sz="1600" b="1" dirty="0">
                <a:solidFill>
                  <a:srgbClr val="2B2622"/>
                </a:solidFill>
              </a:rPr>
              <a:t>07:00–11:00 is the trading day.  </a:t>
            </a:r>
            <a:r>
              <a:rPr lang="en-US" sz="1600" dirty="0">
                <a:solidFill>
                  <a:srgbClr val="4A3E36"/>
                </a:solidFill>
              </a:rPr>
              <a:t>Those four hours total USD 320,069 and the pattern holds in all three stores. Demand then flattens to a steady USD 40–42k per hour until 18:00 and collapses after that: the 20:00 hour produced USD 794 in June, 0.5% of the month.</a:t>
            </a:r>
          </a:p>
        </p:txBody>
      </p:sp>
      <p:graphicFrame>
        <p:nvGraphicFramePr>
          <p:cNvPr id="53" name="Chart"/>
          <p:cNvGraphicFramePr/>
          <p:nvPr/>
        </p:nvGraphicFramePr>
        <p:xfrm>
          <a:off x="838200" y="1651000"/>
          <a:ext cx="10515600" cy="3352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7749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A71B-53B2-64B2-0C77-10F8DA2847FA}"/>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The morning peak repeats every single day</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Revenue · USD thousands · weekday × hour, all stores, Jan–Jun 2023</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5029200"/>
            <a:ext cx="10515600" cy="1117600"/>
          </a:xfrm>
          <a:prstGeom prst="rect">
            <a:avLst/>
          </a:prstGeom>
          <a:noFill/>
        </p:spPr>
        <p:txBody>
          <a:bodyPr wrap="square" lIns="0" tIns="0" rIns="0" bIns="0" anchor="t"/>
          <a:lstStyle/>
          <a:p>
            <a:pPr algn="l">
              <a:lnSpc>
                <a:spcPct val="112000"/>
              </a:lnSpc>
              <a:buNone/>
            </a:pPr>
            <a:r>
              <a:rPr lang="en-US" sz="1600" b="1" dirty="0">
                <a:solidFill>
                  <a:srgbClr val="2B2622"/>
                </a:solidFill>
              </a:rPr>
              <a:t>Day of week barely matters; hour of day matters enormously.  </a:t>
            </a:r>
            <a:r>
              <a:rPr lang="en-US" sz="1600" dirty="0">
                <a:solidFill>
                  <a:srgbClr val="4A3E36"/>
                </a:solidFill>
              </a:rPr>
              <a:t>Weekly revenue is almost flat across the seven days — every weekday sits between 13.9% and 14.6% of the total, with Saturday marginally the weakest. The heat therefore concentrates in vertical bands, not horizontal ones, which makes the staffing question a question of hours rather than days.</a:t>
            </a:r>
          </a:p>
        </p:txBody>
      </p:sp>
      <p:graphicFrame>
        <p:nvGraphicFramePr>
          <p:cNvPr id="4" name="Table 3">
            <a:extLst>
              <a:ext uri="{FF2B5EF4-FFF2-40B4-BE49-F238E27FC236}">
                <a16:creationId xmlns:a16="http://schemas.microsoft.com/office/drawing/2014/main" id="{00157B13-C1AC-44F2-8031-B028A1671199}"/>
              </a:ext>
            </a:extLst>
          </p:cNvPr>
          <p:cNvGraphicFramePr>
            <a:graphicFrameLocks noGrp="1"/>
          </p:cNvGraphicFramePr>
          <p:nvPr>
            <p:extLst>
              <p:ext uri="{D42A27DB-BD31-4B8C-83A1-F6EECF244321}">
                <p14:modId xmlns:p14="http://schemas.microsoft.com/office/powerpoint/2010/main" val="3374157277"/>
              </p:ext>
            </p:extLst>
          </p:nvPr>
        </p:nvGraphicFramePr>
        <p:xfrm>
          <a:off x="838200" y="1854200"/>
          <a:ext cx="10515590" cy="28448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1427858046"/>
                    </a:ext>
                  </a:extLst>
                </a:gridCol>
                <a:gridCol w="701430">
                  <a:extLst>
                    <a:ext uri="{9D8B030D-6E8A-4147-A177-3AD203B41FA5}">
                      <a16:colId xmlns:a16="http://schemas.microsoft.com/office/drawing/2014/main" val="3701472690"/>
                    </a:ext>
                  </a:extLst>
                </a:gridCol>
                <a:gridCol w="701430">
                  <a:extLst>
                    <a:ext uri="{9D8B030D-6E8A-4147-A177-3AD203B41FA5}">
                      <a16:colId xmlns:a16="http://schemas.microsoft.com/office/drawing/2014/main" val="4053793223"/>
                    </a:ext>
                  </a:extLst>
                </a:gridCol>
                <a:gridCol w="701430">
                  <a:extLst>
                    <a:ext uri="{9D8B030D-6E8A-4147-A177-3AD203B41FA5}">
                      <a16:colId xmlns:a16="http://schemas.microsoft.com/office/drawing/2014/main" val="932439974"/>
                    </a:ext>
                  </a:extLst>
                </a:gridCol>
                <a:gridCol w="701430">
                  <a:extLst>
                    <a:ext uri="{9D8B030D-6E8A-4147-A177-3AD203B41FA5}">
                      <a16:colId xmlns:a16="http://schemas.microsoft.com/office/drawing/2014/main" val="1065951986"/>
                    </a:ext>
                  </a:extLst>
                </a:gridCol>
                <a:gridCol w="701430">
                  <a:extLst>
                    <a:ext uri="{9D8B030D-6E8A-4147-A177-3AD203B41FA5}">
                      <a16:colId xmlns:a16="http://schemas.microsoft.com/office/drawing/2014/main" val="971719637"/>
                    </a:ext>
                  </a:extLst>
                </a:gridCol>
                <a:gridCol w="701430">
                  <a:extLst>
                    <a:ext uri="{9D8B030D-6E8A-4147-A177-3AD203B41FA5}">
                      <a16:colId xmlns:a16="http://schemas.microsoft.com/office/drawing/2014/main" val="206310281"/>
                    </a:ext>
                  </a:extLst>
                </a:gridCol>
                <a:gridCol w="701430">
                  <a:extLst>
                    <a:ext uri="{9D8B030D-6E8A-4147-A177-3AD203B41FA5}">
                      <a16:colId xmlns:a16="http://schemas.microsoft.com/office/drawing/2014/main" val="1052006651"/>
                    </a:ext>
                  </a:extLst>
                </a:gridCol>
                <a:gridCol w="701430">
                  <a:extLst>
                    <a:ext uri="{9D8B030D-6E8A-4147-A177-3AD203B41FA5}">
                      <a16:colId xmlns:a16="http://schemas.microsoft.com/office/drawing/2014/main" val="953226127"/>
                    </a:ext>
                  </a:extLst>
                </a:gridCol>
                <a:gridCol w="701430">
                  <a:extLst>
                    <a:ext uri="{9D8B030D-6E8A-4147-A177-3AD203B41FA5}">
                      <a16:colId xmlns:a16="http://schemas.microsoft.com/office/drawing/2014/main" val="1194241513"/>
                    </a:ext>
                  </a:extLst>
                </a:gridCol>
                <a:gridCol w="701430">
                  <a:extLst>
                    <a:ext uri="{9D8B030D-6E8A-4147-A177-3AD203B41FA5}">
                      <a16:colId xmlns:a16="http://schemas.microsoft.com/office/drawing/2014/main" val="3342651077"/>
                    </a:ext>
                  </a:extLst>
                </a:gridCol>
                <a:gridCol w="701430">
                  <a:extLst>
                    <a:ext uri="{9D8B030D-6E8A-4147-A177-3AD203B41FA5}">
                      <a16:colId xmlns:a16="http://schemas.microsoft.com/office/drawing/2014/main" val="803103597"/>
                    </a:ext>
                  </a:extLst>
                </a:gridCol>
                <a:gridCol w="701430">
                  <a:extLst>
                    <a:ext uri="{9D8B030D-6E8A-4147-A177-3AD203B41FA5}">
                      <a16:colId xmlns:a16="http://schemas.microsoft.com/office/drawing/2014/main" val="3550723489"/>
                    </a:ext>
                  </a:extLst>
                </a:gridCol>
                <a:gridCol w="701430">
                  <a:extLst>
                    <a:ext uri="{9D8B030D-6E8A-4147-A177-3AD203B41FA5}">
                      <a16:colId xmlns:a16="http://schemas.microsoft.com/office/drawing/2014/main" val="2533417210"/>
                    </a:ext>
                  </a:extLst>
                </a:gridCol>
              </a:tblGrid>
              <a:tr h="355600">
                <a:tc>
                  <a:txBody>
                    <a:bodyPr/>
                    <a:lstStyle/>
                    <a:p>
                      <a:pPr algn="l"/>
                      <a:endParaRPr lang="pt-PT" sz="1400" b="1">
                        <a:solidFill>
                          <a:srgbClr val="6E6058"/>
                        </a:solidFill>
                      </a:endParaRPr>
                    </a:p>
                  </a:txBody>
                  <a:tcPr anchor="ctr">
                    <a:solidFill>
                      <a:srgbClr val="FAF6F0"/>
                    </a:solidFill>
                  </a:tcPr>
                </a:tc>
                <a:tc>
                  <a:txBody>
                    <a:bodyPr/>
                    <a:lstStyle/>
                    <a:p>
                      <a:pPr algn="ctr"/>
                      <a:r>
                        <a:rPr lang="pt-PT" sz="1400" b="1">
                          <a:solidFill>
                            <a:srgbClr val="6E6058"/>
                          </a:solidFill>
                        </a:rPr>
                        <a:t>6a</a:t>
                      </a:r>
                    </a:p>
                  </a:txBody>
                  <a:tcPr anchor="ctr">
                    <a:solidFill>
                      <a:srgbClr val="FAF6F0"/>
                    </a:solidFill>
                  </a:tcPr>
                </a:tc>
                <a:tc>
                  <a:txBody>
                    <a:bodyPr/>
                    <a:lstStyle/>
                    <a:p>
                      <a:pPr algn="ctr"/>
                      <a:r>
                        <a:rPr lang="pt-PT" sz="1400" b="1">
                          <a:solidFill>
                            <a:srgbClr val="6E6058"/>
                          </a:solidFill>
                        </a:rPr>
                        <a:t>7a</a:t>
                      </a:r>
                    </a:p>
                  </a:txBody>
                  <a:tcPr anchor="ctr">
                    <a:solidFill>
                      <a:srgbClr val="FAF6F0"/>
                    </a:solidFill>
                  </a:tcPr>
                </a:tc>
                <a:tc>
                  <a:txBody>
                    <a:bodyPr/>
                    <a:lstStyle/>
                    <a:p>
                      <a:pPr algn="ctr"/>
                      <a:r>
                        <a:rPr lang="pt-PT" sz="1400" b="1">
                          <a:solidFill>
                            <a:srgbClr val="6E6058"/>
                          </a:solidFill>
                        </a:rPr>
                        <a:t>8a</a:t>
                      </a:r>
                    </a:p>
                  </a:txBody>
                  <a:tcPr anchor="ctr">
                    <a:solidFill>
                      <a:srgbClr val="FAF6F0"/>
                    </a:solidFill>
                  </a:tcPr>
                </a:tc>
                <a:tc>
                  <a:txBody>
                    <a:bodyPr/>
                    <a:lstStyle/>
                    <a:p>
                      <a:pPr algn="ctr"/>
                      <a:r>
                        <a:rPr lang="pt-PT" sz="1400" b="1">
                          <a:solidFill>
                            <a:srgbClr val="6E6058"/>
                          </a:solidFill>
                        </a:rPr>
                        <a:t>9a</a:t>
                      </a:r>
                    </a:p>
                  </a:txBody>
                  <a:tcPr anchor="ctr">
                    <a:solidFill>
                      <a:srgbClr val="FAF6F0"/>
                    </a:solidFill>
                  </a:tcPr>
                </a:tc>
                <a:tc>
                  <a:txBody>
                    <a:bodyPr/>
                    <a:lstStyle/>
                    <a:p>
                      <a:pPr algn="ctr"/>
                      <a:r>
                        <a:rPr lang="pt-PT" sz="1400" b="1">
                          <a:solidFill>
                            <a:srgbClr val="6E6058"/>
                          </a:solidFill>
                        </a:rPr>
                        <a:t>10a</a:t>
                      </a:r>
                    </a:p>
                  </a:txBody>
                  <a:tcPr anchor="ctr">
                    <a:solidFill>
                      <a:srgbClr val="FAF6F0"/>
                    </a:solidFill>
                  </a:tcPr>
                </a:tc>
                <a:tc>
                  <a:txBody>
                    <a:bodyPr/>
                    <a:lstStyle/>
                    <a:p>
                      <a:pPr algn="ctr"/>
                      <a:r>
                        <a:rPr lang="pt-PT" sz="1400" b="1">
                          <a:solidFill>
                            <a:srgbClr val="6E6058"/>
                          </a:solidFill>
                        </a:rPr>
                        <a:t>11a</a:t>
                      </a:r>
                    </a:p>
                  </a:txBody>
                  <a:tcPr anchor="ctr">
                    <a:solidFill>
                      <a:srgbClr val="FAF6F0"/>
                    </a:solidFill>
                  </a:tcPr>
                </a:tc>
                <a:tc>
                  <a:txBody>
                    <a:bodyPr/>
                    <a:lstStyle/>
                    <a:p>
                      <a:pPr algn="ctr"/>
                      <a:r>
                        <a:rPr lang="pt-PT" sz="1400" b="1">
                          <a:solidFill>
                            <a:srgbClr val="6E6058"/>
                          </a:solidFill>
                        </a:rPr>
                        <a:t>12p</a:t>
                      </a:r>
                    </a:p>
                  </a:txBody>
                  <a:tcPr anchor="ctr">
                    <a:solidFill>
                      <a:srgbClr val="FAF6F0"/>
                    </a:solidFill>
                  </a:tcPr>
                </a:tc>
                <a:tc>
                  <a:txBody>
                    <a:bodyPr/>
                    <a:lstStyle/>
                    <a:p>
                      <a:pPr algn="ctr"/>
                      <a:r>
                        <a:rPr lang="pt-PT" sz="1400" b="1">
                          <a:solidFill>
                            <a:srgbClr val="6E6058"/>
                          </a:solidFill>
                        </a:rPr>
                        <a:t>1p</a:t>
                      </a:r>
                    </a:p>
                  </a:txBody>
                  <a:tcPr anchor="ctr">
                    <a:solidFill>
                      <a:srgbClr val="FAF6F0"/>
                    </a:solidFill>
                  </a:tcPr>
                </a:tc>
                <a:tc>
                  <a:txBody>
                    <a:bodyPr/>
                    <a:lstStyle/>
                    <a:p>
                      <a:pPr algn="ctr"/>
                      <a:r>
                        <a:rPr lang="pt-PT" sz="1400" b="1">
                          <a:solidFill>
                            <a:srgbClr val="6E6058"/>
                          </a:solidFill>
                        </a:rPr>
                        <a:t>2p</a:t>
                      </a:r>
                    </a:p>
                  </a:txBody>
                  <a:tcPr anchor="ctr">
                    <a:solidFill>
                      <a:srgbClr val="FAF6F0"/>
                    </a:solidFill>
                  </a:tcPr>
                </a:tc>
                <a:tc>
                  <a:txBody>
                    <a:bodyPr/>
                    <a:lstStyle/>
                    <a:p>
                      <a:pPr algn="ctr"/>
                      <a:r>
                        <a:rPr lang="pt-PT" sz="1400" b="1">
                          <a:solidFill>
                            <a:srgbClr val="6E6058"/>
                          </a:solidFill>
                        </a:rPr>
                        <a:t>3p</a:t>
                      </a:r>
                    </a:p>
                  </a:txBody>
                  <a:tcPr anchor="ctr">
                    <a:solidFill>
                      <a:srgbClr val="FAF6F0"/>
                    </a:solidFill>
                  </a:tcPr>
                </a:tc>
                <a:tc>
                  <a:txBody>
                    <a:bodyPr/>
                    <a:lstStyle/>
                    <a:p>
                      <a:pPr algn="ctr"/>
                      <a:r>
                        <a:rPr lang="pt-PT" sz="1400" b="1">
                          <a:solidFill>
                            <a:srgbClr val="6E6058"/>
                          </a:solidFill>
                        </a:rPr>
                        <a:t>4p</a:t>
                      </a:r>
                    </a:p>
                  </a:txBody>
                  <a:tcPr anchor="ctr">
                    <a:solidFill>
                      <a:srgbClr val="FAF6F0"/>
                    </a:solidFill>
                  </a:tcPr>
                </a:tc>
                <a:tc>
                  <a:txBody>
                    <a:bodyPr/>
                    <a:lstStyle/>
                    <a:p>
                      <a:pPr algn="ctr"/>
                      <a:r>
                        <a:rPr lang="pt-PT" sz="1400" b="1">
                          <a:solidFill>
                            <a:srgbClr val="6E6058"/>
                          </a:solidFill>
                        </a:rPr>
                        <a:t>5p</a:t>
                      </a:r>
                    </a:p>
                  </a:txBody>
                  <a:tcPr anchor="ctr">
                    <a:solidFill>
                      <a:srgbClr val="FAF6F0"/>
                    </a:solidFill>
                  </a:tcPr>
                </a:tc>
                <a:tc>
                  <a:txBody>
                    <a:bodyPr/>
                    <a:lstStyle/>
                    <a:p>
                      <a:pPr algn="ctr"/>
                      <a:r>
                        <a:rPr lang="pt-PT" sz="1400" b="1">
                          <a:solidFill>
                            <a:srgbClr val="6E6058"/>
                          </a:solidFill>
                        </a:rPr>
                        <a:t>6p</a:t>
                      </a:r>
                    </a:p>
                  </a:txBody>
                  <a:tcPr anchor="ctr">
                    <a:solidFill>
                      <a:srgbClr val="FAF6F0"/>
                    </a:solidFill>
                  </a:tcPr>
                </a:tc>
                <a:extLst>
                  <a:ext uri="{0D108BD9-81ED-4DB2-BD59-A6C34878D82A}">
                    <a16:rowId xmlns:a16="http://schemas.microsoft.com/office/drawing/2014/main" val="2281569935"/>
                  </a:ext>
                </a:extLst>
              </a:tr>
              <a:tr h="355600">
                <a:tc>
                  <a:txBody>
                    <a:bodyPr/>
                    <a:lstStyle/>
                    <a:p>
                      <a:pPr algn="l"/>
                      <a:r>
                        <a:rPr lang="pt-PT" sz="1400" b="1">
                          <a:solidFill>
                            <a:srgbClr val="2B2622"/>
                          </a:solidFill>
                        </a:rPr>
                        <a:t>Monday</a:t>
                      </a:r>
                    </a:p>
                  </a:txBody>
                  <a:tcPr anchor="ctr">
                    <a:solidFill>
                      <a:srgbClr val="FAF6F0"/>
                    </a:solidFill>
                  </a:tcPr>
                </a:tc>
                <a:tc>
                  <a:txBody>
                    <a:bodyPr/>
                    <a:lstStyle/>
                    <a:p>
                      <a:pPr algn="ctr"/>
                      <a:r>
                        <a:rPr lang="pt-PT" sz="1400" b="0">
                          <a:solidFill>
                            <a:srgbClr val="3D352E"/>
                          </a:solidFill>
                        </a:rPr>
                        <a:t>3.1</a:t>
                      </a:r>
                    </a:p>
                  </a:txBody>
                  <a:tcPr anchor="ctr">
                    <a:solidFill>
                      <a:srgbClr val="F2E5DC"/>
                    </a:solidFill>
                  </a:tcPr>
                </a:tc>
                <a:tc>
                  <a:txBody>
                    <a:bodyPr/>
                    <a:lstStyle/>
                    <a:p>
                      <a:pPr algn="ctr"/>
                      <a:r>
                        <a:rPr lang="pt-PT" sz="1400" b="1">
                          <a:solidFill>
                            <a:srgbClr val="FFFFFF"/>
                          </a:solidFill>
                        </a:rPr>
                        <a:t>9.5</a:t>
                      </a:r>
                    </a:p>
                  </a:txBody>
                  <a:tcPr anchor="ctr">
                    <a:solidFill>
                      <a:srgbClr val="CD8C7A"/>
                    </a:solidFill>
                  </a:tcPr>
                </a:tc>
                <a:tc>
                  <a:txBody>
                    <a:bodyPr/>
                    <a:lstStyle/>
                    <a:p>
                      <a:pPr algn="ctr"/>
                      <a:r>
                        <a:rPr lang="pt-PT" sz="1400" b="1">
                          <a:solidFill>
                            <a:srgbClr val="FFFFFF"/>
                          </a:solidFill>
                        </a:rPr>
                        <a:t>11.6</a:t>
                      </a:r>
                    </a:p>
                  </a:txBody>
                  <a:tcPr anchor="ctr">
                    <a:solidFill>
                      <a:srgbClr val="C16F5A"/>
                    </a:solidFill>
                  </a:tcPr>
                </a:tc>
                <a:tc>
                  <a:txBody>
                    <a:bodyPr/>
                    <a:lstStyle/>
                    <a:p>
                      <a:pPr algn="ctr"/>
                      <a:r>
                        <a:rPr lang="pt-PT" sz="1400" b="1">
                          <a:solidFill>
                            <a:srgbClr val="FFFFFF"/>
                          </a:solidFill>
                        </a:rPr>
                        <a:t>11.9</a:t>
                      </a:r>
                    </a:p>
                  </a:txBody>
                  <a:tcPr anchor="ctr">
                    <a:solidFill>
                      <a:srgbClr val="BF6B56"/>
                    </a:solidFill>
                  </a:tcPr>
                </a:tc>
                <a:tc>
                  <a:txBody>
                    <a:bodyPr/>
                    <a:lstStyle/>
                    <a:p>
                      <a:pPr algn="ctr"/>
                      <a:r>
                        <a:rPr lang="pt-PT" sz="1400" b="1">
                          <a:solidFill>
                            <a:srgbClr val="FFFFFF"/>
                          </a:solidFill>
                        </a:rPr>
                        <a:t>12.4</a:t>
                      </a:r>
                    </a:p>
                  </a:txBody>
                  <a:tcPr anchor="ctr">
                    <a:solidFill>
                      <a:srgbClr val="BC644E"/>
                    </a:solidFill>
                  </a:tcPr>
                </a:tc>
                <a:tc>
                  <a:txBody>
                    <a:bodyPr/>
                    <a:lstStyle/>
                    <a:p>
                      <a:pPr algn="ctr"/>
                      <a:r>
                        <a:rPr lang="pt-PT" sz="1400" b="0">
                          <a:solidFill>
                            <a:srgbClr val="3D352E"/>
                          </a:solidFill>
                        </a:rPr>
                        <a:t>7.2</a:t>
                      </a:r>
                    </a:p>
                  </a:txBody>
                  <a:tcPr anchor="ctr">
                    <a:solidFill>
                      <a:srgbClr val="DAAC9D"/>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5.8</a:t>
                      </a:r>
                    </a:p>
                  </a:txBody>
                  <a:tcPr anchor="ctr">
                    <a:solidFill>
                      <a:srgbClr val="E3BFB3"/>
                    </a:solidFill>
                  </a:tcPr>
                </a:tc>
                <a:tc>
                  <a:txBody>
                    <a:bodyPr/>
                    <a:lstStyle/>
                    <a:p>
                      <a:pPr algn="ctr"/>
                      <a:r>
                        <a:rPr lang="pt-PT" sz="1400" b="0">
                          <a:solidFill>
                            <a:srgbClr val="3D352E"/>
                          </a:solidFill>
                        </a:rPr>
                        <a:t>6.5</a:t>
                      </a:r>
                    </a:p>
                  </a:txBody>
                  <a:tcPr anchor="ctr">
                    <a:solidFill>
                      <a:srgbClr val="DEB6A8"/>
                    </a:solidFill>
                  </a:tcPr>
                </a:tc>
                <a:tc>
                  <a:txBody>
                    <a:bodyPr/>
                    <a:lstStyle/>
                    <a:p>
                      <a:pPr algn="ctr"/>
                      <a:r>
                        <a:rPr lang="pt-PT" sz="1400" b="0">
                          <a:solidFill>
                            <a:srgbClr val="3D352E"/>
                          </a:solidFill>
                        </a:rPr>
                        <a:t>6.2</a:t>
                      </a:r>
                    </a:p>
                  </a:txBody>
                  <a:tcPr anchor="ctr">
                    <a:solidFill>
                      <a:srgbClr val="E0BAAD"/>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5.0</a:t>
                      </a:r>
                    </a:p>
                  </a:txBody>
                  <a:tcPr anchor="ctr">
                    <a:solidFill>
                      <a:srgbClr val="E7CABF"/>
                    </a:solidFill>
                  </a:tcPr>
                </a:tc>
                <a:extLst>
                  <a:ext uri="{0D108BD9-81ED-4DB2-BD59-A6C34878D82A}">
                    <a16:rowId xmlns:a16="http://schemas.microsoft.com/office/drawing/2014/main" val="1930852110"/>
                  </a:ext>
                </a:extLst>
              </a:tr>
              <a:tr h="355600">
                <a:tc>
                  <a:txBody>
                    <a:bodyPr/>
                    <a:lstStyle/>
                    <a:p>
                      <a:pPr algn="l"/>
                      <a:r>
                        <a:rPr lang="pt-PT" sz="1400" b="1">
                          <a:solidFill>
                            <a:srgbClr val="2B2622"/>
                          </a:solidFill>
                        </a:rPr>
                        <a:t>Tuesday</a:t>
                      </a:r>
                    </a:p>
                  </a:txBody>
                  <a:tcPr anchor="ctr">
                    <a:solidFill>
                      <a:srgbClr val="FAF6F0"/>
                    </a:solidFill>
                  </a:tcPr>
                </a:tc>
                <a:tc>
                  <a:txBody>
                    <a:bodyPr/>
                    <a:lstStyle/>
                    <a:p>
                      <a:pPr algn="ctr"/>
                      <a:r>
                        <a:rPr lang="pt-PT" sz="1400" b="0">
                          <a:solidFill>
                            <a:srgbClr val="3D352E"/>
                          </a:solidFill>
                        </a:rPr>
                        <a:t>2.3</a:t>
                      </a:r>
                    </a:p>
                  </a:txBody>
                  <a:tcPr anchor="ctr">
                    <a:solidFill>
                      <a:srgbClr val="F7F0E8"/>
                    </a:solidFill>
                  </a:tcPr>
                </a:tc>
                <a:tc>
                  <a:txBody>
                    <a:bodyPr/>
                    <a:lstStyle/>
                    <a:p>
                      <a:pPr algn="ctr"/>
                      <a:r>
                        <a:rPr lang="pt-PT" sz="1400" b="0">
                          <a:solidFill>
                            <a:srgbClr val="3D352E"/>
                          </a:solidFill>
                        </a:rPr>
                        <a:t>8.8</a:t>
                      </a:r>
                    </a:p>
                  </a:txBody>
                  <a:tcPr anchor="ctr">
                    <a:solidFill>
                      <a:srgbClr val="D19685"/>
                    </a:solidFill>
                  </a:tcPr>
                </a:tc>
                <a:tc>
                  <a:txBody>
                    <a:bodyPr/>
                    <a:lstStyle/>
                    <a:p>
                      <a:pPr algn="ctr"/>
                      <a:r>
                        <a:rPr lang="pt-PT" sz="1400" b="1">
                          <a:solidFill>
                            <a:srgbClr val="FFFFFF"/>
                          </a:solidFill>
                        </a:rPr>
                        <a:t>13.0</a:t>
                      </a:r>
                    </a:p>
                  </a:txBody>
                  <a:tcPr anchor="ctr">
                    <a:solidFill>
                      <a:srgbClr val="B95B45"/>
                    </a:solidFill>
                  </a:tcPr>
                </a:tc>
                <a:tc>
                  <a:txBody>
                    <a:bodyPr/>
                    <a:lstStyle/>
                    <a:p>
                      <a:pPr algn="ctr"/>
                      <a:r>
                        <a:rPr lang="pt-PT" sz="1400" b="1">
                          <a:solidFill>
                            <a:srgbClr val="FFFFFF"/>
                          </a:solidFill>
                        </a:rPr>
                        <a:t>13.6</a:t>
                      </a:r>
                    </a:p>
                  </a:txBody>
                  <a:tcPr anchor="ctr">
                    <a:solidFill>
                      <a:srgbClr val="B5533C"/>
                    </a:solidFill>
                  </a:tcPr>
                </a:tc>
                <a:tc>
                  <a:txBody>
                    <a:bodyPr/>
                    <a:lstStyle/>
                    <a:p>
                      <a:pPr algn="ctr"/>
                      <a:r>
                        <a:rPr lang="pt-PT" sz="1400" b="1">
                          <a:solidFill>
                            <a:srgbClr val="FFFFFF"/>
                          </a:solidFill>
                        </a:rPr>
                        <a:t>13.5</a:t>
                      </a:r>
                    </a:p>
                  </a:txBody>
                  <a:tcPr anchor="ctr">
                    <a:solidFill>
                      <a:srgbClr val="B6543E"/>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5.2</a:t>
                      </a:r>
                    </a:p>
                  </a:txBody>
                  <a:tcPr anchor="ctr">
                    <a:solidFill>
                      <a:srgbClr val="E6C8BC"/>
                    </a:solidFill>
                  </a:tcPr>
                </a:tc>
                <a:tc>
                  <a:txBody>
                    <a:bodyPr/>
                    <a:lstStyle/>
                    <a:p>
                      <a:pPr algn="ctr"/>
                      <a:r>
                        <a:rPr lang="pt-PT" sz="1400" b="0">
                          <a:solidFill>
                            <a:srgbClr val="3D352E"/>
                          </a:solidFill>
                        </a:rPr>
                        <a:t>5.4</a:t>
                      </a:r>
                    </a:p>
                  </a:txBody>
                  <a:tcPr anchor="ctr">
                    <a:solidFill>
                      <a:srgbClr val="E5C5B9"/>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5.7</a:t>
                      </a:r>
                    </a:p>
                  </a:txBody>
                  <a:tcPr anchor="ctr">
                    <a:solidFill>
                      <a:srgbClr val="E3C1B4"/>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4.3</a:t>
                      </a:r>
                    </a:p>
                  </a:txBody>
                  <a:tcPr anchor="ctr">
                    <a:solidFill>
                      <a:srgbClr val="EBD4CA"/>
                    </a:solidFill>
                  </a:tcPr>
                </a:tc>
                <a:extLst>
                  <a:ext uri="{0D108BD9-81ED-4DB2-BD59-A6C34878D82A}">
                    <a16:rowId xmlns:a16="http://schemas.microsoft.com/office/drawing/2014/main" val="2520491191"/>
                  </a:ext>
                </a:extLst>
              </a:tr>
              <a:tr h="355600">
                <a:tc>
                  <a:txBody>
                    <a:bodyPr/>
                    <a:lstStyle/>
                    <a:p>
                      <a:pPr algn="l"/>
                      <a:r>
                        <a:rPr lang="pt-PT" sz="1400" b="1">
                          <a:solidFill>
                            <a:srgbClr val="2B2622"/>
                          </a:solidFill>
                        </a:rPr>
                        <a:t>Wednesday</a:t>
                      </a:r>
                    </a:p>
                  </a:txBody>
                  <a:tcPr anchor="ctr">
                    <a:solidFill>
                      <a:srgbClr val="FAF6F0"/>
                    </a:solidFill>
                  </a:tcPr>
                </a:tc>
                <a:tc>
                  <a:txBody>
                    <a:bodyPr/>
                    <a:lstStyle/>
                    <a:p>
                      <a:pPr algn="ctr"/>
                      <a:r>
                        <a:rPr lang="pt-PT" sz="1400" b="0">
                          <a:solidFill>
                            <a:srgbClr val="3D352E"/>
                          </a:solidFill>
                        </a:rPr>
                        <a:t>3.4</a:t>
                      </a:r>
                    </a:p>
                  </a:txBody>
                  <a:tcPr anchor="ctr">
                    <a:solidFill>
                      <a:srgbClr val="F1E1D7"/>
                    </a:solidFill>
                  </a:tcPr>
                </a:tc>
                <a:tc>
                  <a:txBody>
                    <a:bodyPr/>
                    <a:lstStyle/>
                    <a:p>
                      <a:pPr algn="ctr"/>
                      <a:r>
                        <a:rPr lang="pt-PT" sz="1400" b="0">
                          <a:solidFill>
                            <a:srgbClr val="3D352E"/>
                          </a:solidFill>
                        </a:rPr>
                        <a:t>8.9</a:t>
                      </a:r>
                    </a:p>
                  </a:txBody>
                  <a:tcPr anchor="ctr">
                    <a:solidFill>
                      <a:srgbClr val="D09484"/>
                    </a:solidFill>
                  </a:tcPr>
                </a:tc>
                <a:tc>
                  <a:txBody>
                    <a:bodyPr/>
                    <a:lstStyle/>
                    <a:p>
                      <a:pPr algn="ctr"/>
                      <a:r>
                        <a:rPr lang="pt-PT" sz="1400" b="1">
                          <a:solidFill>
                            <a:srgbClr val="FFFFFF"/>
                          </a:solidFill>
                        </a:rPr>
                        <a:t>12.0</a:t>
                      </a:r>
                    </a:p>
                  </a:txBody>
                  <a:tcPr anchor="ctr">
                    <a:solidFill>
                      <a:srgbClr val="BE6954"/>
                    </a:solidFill>
                  </a:tcPr>
                </a:tc>
                <a:tc>
                  <a:txBody>
                    <a:bodyPr/>
                    <a:lstStyle/>
                    <a:p>
                      <a:pPr algn="ctr"/>
                      <a:r>
                        <a:rPr lang="pt-PT" sz="1400" b="1">
                          <a:solidFill>
                            <a:srgbClr val="FFFFFF"/>
                          </a:solidFill>
                        </a:rPr>
                        <a:t>12.2</a:t>
                      </a:r>
                    </a:p>
                  </a:txBody>
                  <a:tcPr anchor="ctr">
                    <a:solidFill>
                      <a:srgbClr val="BD6651"/>
                    </a:solidFill>
                  </a:tcPr>
                </a:tc>
                <a:tc>
                  <a:txBody>
                    <a:bodyPr/>
                    <a:lstStyle/>
                    <a:p>
                      <a:pPr algn="ctr"/>
                      <a:r>
                        <a:rPr lang="pt-PT" sz="1400" b="1">
                          <a:solidFill>
                            <a:srgbClr val="FFFFFF"/>
                          </a:solidFill>
                        </a:rPr>
                        <a:t>12.4</a:t>
                      </a:r>
                    </a:p>
                  </a:txBody>
                  <a:tcPr anchor="ctr">
                    <a:solidFill>
                      <a:srgbClr val="BC644E"/>
                    </a:solidFill>
                  </a:tcPr>
                </a:tc>
                <a:tc>
                  <a:txBody>
                    <a:bodyPr/>
                    <a:lstStyle/>
                    <a:p>
                      <a:pPr algn="ctr"/>
                      <a:r>
                        <a:rPr lang="pt-PT" sz="1400" b="0">
                          <a:solidFill>
                            <a:srgbClr val="3D352E"/>
                          </a:solidFill>
                        </a:rPr>
                        <a:t>7.1</a:t>
                      </a:r>
                    </a:p>
                  </a:txBody>
                  <a:tcPr anchor="ctr">
                    <a:solidFill>
                      <a:srgbClr val="DBAD9F"/>
                    </a:solidFill>
                  </a:tcPr>
                </a:tc>
                <a:tc>
                  <a:txBody>
                    <a:bodyPr/>
                    <a:lstStyle/>
                    <a:p>
                      <a:pPr algn="ctr"/>
                      <a:r>
                        <a:rPr lang="pt-PT" sz="1400" b="0">
                          <a:solidFill>
                            <a:srgbClr val="3D352E"/>
                          </a:solidFill>
                        </a:rPr>
                        <a:t>5.5</a:t>
                      </a:r>
                    </a:p>
                  </a:txBody>
                  <a:tcPr anchor="ctr">
                    <a:solidFill>
                      <a:srgbClr val="E4C4B7"/>
                    </a:solidFill>
                  </a:tcPr>
                </a:tc>
                <a:tc>
                  <a:txBody>
                    <a:bodyPr/>
                    <a:lstStyle/>
                    <a:p>
                      <a:pPr algn="ctr"/>
                      <a:r>
                        <a:rPr lang="pt-PT" sz="1400" b="0">
                          <a:solidFill>
                            <a:srgbClr val="3D352E"/>
                          </a:solidFill>
                        </a:rPr>
                        <a:t>6.2</a:t>
                      </a:r>
                    </a:p>
                  </a:txBody>
                  <a:tcPr anchor="ctr">
                    <a:solidFill>
                      <a:srgbClr val="E0BAAD"/>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6.0</a:t>
                      </a:r>
                    </a:p>
                  </a:txBody>
                  <a:tcPr anchor="ctr">
                    <a:solidFill>
                      <a:srgbClr val="E1BDB0"/>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5.2</a:t>
                      </a:r>
                    </a:p>
                  </a:txBody>
                  <a:tcPr anchor="ctr">
                    <a:solidFill>
                      <a:srgbClr val="E6C8BC"/>
                    </a:solidFill>
                  </a:tcPr>
                </a:tc>
                <a:extLst>
                  <a:ext uri="{0D108BD9-81ED-4DB2-BD59-A6C34878D82A}">
                    <a16:rowId xmlns:a16="http://schemas.microsoft.com/office/drawing/2014/main" val="4014488185"/>
                  </a:ext>
                </a:extLst>
              </a:tr>
              <a:tr h="355600">
                <a:tc>
                  <a:txBody>
                    <a:bodyPr/>
                    <a:lstStyle/>
                    <a:p>
                      <a:pPr algn="l"/>
                      <a:r>
                        <a:rPr lang="pt-PT" sz="1400" b="1">
                          <a:solidFill>
                            <a:srgbClr val="2B2622"/>
                          </a:solidFill>
                        </a:rPr>
                        <a:t>Thursday</a:t>
                      </a:r>
                    </a:p>
                  </a:txBody>
                  <a:tcPr anchor="ctr">
                    <a:solidFill>
                      <a:srgbClr val="FAF6F0"/>
                    </a:solidFill>
                  </a:tcPr>
                </a:tc>
                <a:tc>
                  <a:txBody>
                    <a:bodyPr/>
                    <a:lstStyle/>
                    <a:p>
                      <a:pPr algn="ctr"/>
                      <a:r>
                        <a:rPr lang="pt-PT" sz="1400" b="0">
                          <a:solidFill>
                            <a:srgbClr val="3D352E"/>
                          </a:solidFill>
                        </a:rPr>
                        <a:t>3.5</a:t>
                      </a:r>
                    </a:p>
                  </a:txBody>
                  <a:tcPr anchor="ctr">
                    <a:solidFill>
                      <a:srgbClr val="F0DFD6"/>
                    </a:solidFill>
                  </a:tcPr>
                </a:tc>
                <a:tc>
                  <a:txBody>
                    <a:bodyPr/>
                    <a:lstStyle/>
                    <a:p>
                      <a:pPr algn="ctr"/>
                      <a:r>
                        <a:rPr lang="pt-PT" sz="1400" b="0">
                          <a:solidFill>
                            <a:srgbClr val="3D352E"/>
                          </a:solidFill>
                        </a:rPr>
                        <a:t>9.2</a:t>
                      </a:r>
                    </a:p>
                  </a:txBody>
                  <a:tcPr anchor="ctr">
                    <a:solidFill>
                      <a:srgbClr val="CF907F"/>
                    </a:solidFill>
                  </a:tcPr>
                </a:tc>
                <a:tc>
                  <a:txBody>
                    <a:bodyPr/>
                    <a:lstStyle/>
                    <a:p>
                      <a:pPr algn="ctr"/>
                      <a:r>
                        <a:rPr lang="pt-PT" sz="1400" b="1">
                          <a:solidFill>
                            <a:srgbClr val="FFFFFF"/>
                          </a:solidFill>
                        </a:rPr>
                        <a:t>11.4</a:t>
                      </a:r>
                    </a:p>
                  </a:txBody>
                  <a:tcPr anchor="ctr">
                    <a:solidFill>
                      <a:srgbClr val="C2725D"/>
                    </a:solidFill>
                  </a:tcPr>
                </a:tc>
                <a:tc>
                  <a:txBody>
                    <a:bodyPr/>
                    <a:lstStyle/>
                    <a:p>
                      <a:pPr algn="ctr"/>
                      <a:r>
                        <a:rPr lang="pt-PT" sz="1400" b="1">
                          <a:solidFill>
                            <a:srgbClr val="FFFFFF"/>
                          </a:solidFill>
                        </a:rPr>
                        <a:t>11.0</a:t>
                      </a:r>
                    </a:p>
                  </a:txBody>
                  <a:tcPr anchor="ctr">
                    <a:solidFill>
                      <a:srgbClr val="C47764"/>
                    </a:solidFill>
                  </a:tcPr>
                </a:tc>
                <a:tc>
                  <a:txBody>
                    <a:bodyPr/>
                    <a:lstStyle/>
                    <a:p>
                      <a:pPr algn="ctr"/>
                      <a:r>
                        <a:rPr lang="pt-PT" sz="1400" b="1">
                          <a:solidFill>
                            <a:srgbClr val="FFFFFF"/>
                          </a:solidFill>
                        </a:rPr>
                        <a:t>12.1</a:t>
                      </a:r>
                    </a:p>
                  </a:txBody>
                  <a:tcPr anchor="ctr">
                    <a:solidFill>
                      <a:srgbClr val="BE6853"/>
                    </a:solidFill>
                  </a:tcPr>
                </a:tc>
                <a:tc>
                  <a:txBody>
                    <a:bodyPr/>
                    <a:lstStyle/>
                    <a:p>
                      <a:pPr algn="ctr"/>
                      <a:r>
                        <a:rPr lang="pt-PT" sz="1400" b="0">
                          <a:solidFill>
                            <a:srgbClr val="3D352E"/>
                          </a:solidFill>
                        </a:rPr>
                        <a:t>6.9</a:t>
                      </a:r>
                    </a:p>
                  </a:txBody>
                  <a:tcPr anchor="ctr">
                    <a:solidFill>
                      <a:srgbClr val="DCB0A2"/>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6.0</a:t>
                      </a:r>
                    </a:p>
                  </a:txBody>
                  <a:tcPr anchor="ctr">
                    <a:solidFill>
                      <a:srgbClr val="E1BDB0"/>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6.4</a:t>
                      </a:r>
                    </a:p>
                  </a:txBody>
                  <a:tcPr anchor="ctr">
                    <a:solidFill>
                      <a:srgbClr val="DFB7AA"/>
                    </a:solidFill>
                  </a:tcPr>
                </a:tc>
                <a:tc>
                  <a:txBody>
                    <a:bodyPr/>
                    <a:lstStyle/>
                    <a:p>
                      <a:pPr algn="ctr"/>
                      <a:r>
                        <a:rPr lang="pt-PT" sz="1400" b="0">
                          <a:solidFill>
                            <a:srgbClr val="3D352E"/>
                          </a:solidFill>
                        </a:rPr>
                        <a:t>6.0</a:t>
                      </a:r>
                    </a:p>
                  </a:txBody>
                  <a:tcPr anchor="ctr">
                    <a:solidFill>
                      <a:srgbClr val="E1BDB0"/>
                    </a:solidFill>
                  </a:tcPr>
                </a:tc>
                <a:tc>
                  <a:txBody>
                    <a:bodyPr/>
                    <a:lstStyle/>
                    <a:p>
                      <a:pPr algn="ctr"/>
                      <a:r>
                        <a:rPr lang="pt-PT" sz="1400" b="0">
                          <a:solidFill>
                            <a:srgbClr val="3D352E"/>
                          </a:solidFill>
                        </a:rPr>
                        <a:t>5.2</a:t>
                      </a:r>
                    </a:p>
                  </a:txBody>
                  <a:tcPr anchor="ctr">
                    <a:solidFill>
                      <a:srgbClr val="E6C8BC"/>
                    </a:solidFill>
                  </a:tcPr>
                </a:tc>
                <a:extLst>
                  <a:ext uri="{0D108BD9-81ED-4DB2-BD59-A6C34878D82A}">
                    <a16:rowId xmlns:a16="http://schemas.microsoft.com/office/drawing/2014/main" val="3134162070"/>
                  </a:ext>
                </a:extLst>
              </a:tr>
              <a:tr h="355600">
                <a:tc>
                  <a:txBody>
                    <a:bodyPr/>
                    <a:lstStyle/>
                    <a:p>
                      <a:pPr algn="l"/>
                      <a:r>
                        <a:rPr lang="pt-PT" sz="1400" b="1">
                          <a:solidFill>
                            <a:srgbClr val="2B2622"/>
                          </a:solidFill>
                        </a:rPr>
                        <a:t>Friday</a:t>
                      </a:r>
                    </a:p>
                  </a:txBody>
                  <a:tcPr anchor="ctr">
                    <a:solidFill>
                      <a:srgbClr val="FAF6F0"/>
                    </a:solidFill>
                  </a:tcPr>
                </a:tc>
                <a:tc>
                  <a:txBody>
                    <a:bodyPr/>
                    <a:lstStyle/>
                    <a:p>
                      <a:pPr algn="ctr"/>
                      <a:r>
                        <a:rPr lang="pt-PT" sz="1400" b="0">
                          <a:solidFill>
                            <a:srgbClr val="3D352E"/>
                          </a:solidFill>
                        </a:rPr>
                        <a:t>3.4</a:t>
                      </a:r>
                    </a:p>
                  </a:txBody>
                  <a:tcPr anchor="ctr">
                    <a:solidFill>
                      <a:srgbClr val="F1E1D7"/>
                    </a:solidFill>
                  </a:tcPr>
                </a:tc>
                <a:tc>
                  <a:txBody>
                    <a:bodyPr/>
                    <a:lstStyle/>
                    <a:p>
                      <a:pPr algn="ctr"/>
                      <a:r>
                        <a:rPr lang="pt-PT" sz="1400" b="1">
                          <a:solidFill>
                            <a:srgbClr val="FFFFFF"/>
                          </a:solidFill>
                        </a:rPr>
                        <a:t>9.4</a:t>
                      </a:r>
                    </a:p>
                  </a:txBody>
                  <a:tcPr anchor="ctr">
                    <a:solidFill>
                      <a:srgbClr val="CE8D7C"/>
                    </a:solidFill>
                  </a:tcPr>
                </a:tc>
                <a:tc>
                  <a:txBody>
                    <a:bodyPr/>
                    <a:lstStyle/>
                    <a:p>
                      <a:pPr algn="ctr"/>
                      <a:r>
                        <a:rPr lang="pt-PT" sz="1400" b="1">
                          <a:solidFill>
                            <a:srgbClr val="FFFFFF"/>
                          </a:solidFill>
                        </a:rPr>
                        <a:t>11.7</a:t>
                      </a:r>
                    </a:p>
                  </a:txBody>
                  <a:tcPr anchor="ctr">
                    <a:solidFill>
                      <a:srgbClr val="C06D59"/>
                    </a:solidFill>
                  </a:tcPr>
                </a:tc>
                <a:tc>
                  <a:txBody>
                    <a:bodyPr/>
                    <a:lstStyle/>
                    <a:p>
                      <a:pPr algn="ctr"/>
                      <a:r>
                        <a:rPr lang="pt-PT" sz="1400" b="1">
                          <a:solidFill>
                            <a:srgbClr val="FFFFFF"/>
                          </a:solidFill>
                        </a:rPr>
                        <a:t>12.8</a:t>
                      </a:r>
                    </a:p>
                  </a:txBody>
                  <a:tcPr anchor="ctr">
                    <a:solidFill>
                      <a:srgbClr val="BA5E48"/>
                    </a:solidFill>
                  </a:tcPr>
                </a:tc>
                <a:tc>
                  <a:txBody>
                    <a:bodyPr/>
                    <a:lstStyle/>
                    <a:p>
                      <a:pPr algn="ctr"/>
                      <a:r>
                        <a:rPr lang="pt-PT" sz="1400" b="1">
                          <a:solidFill>
                            <a:srgbClr val="FFFFFF"/>
                          </a:solidFill>
                        </a:rPr>
                        <a:t>13.2</a:t>
                      </a:r>
                    </a:p>
                  </a:txBody>
                  <a:tcPr anchor="ctr">
                    <a:solidFill>
                      <a:srgbClr val="B75942"/>
                    </a:solidFill>
                  </a:tcPr>
                </a:tc>
                <a:tc>
                  <a:txBody>
                    <a:bodyPr/>
                    <a:lstStyle/>
                    <a:p>
                      <a:pPr algn="ctr"/>
                      <a:r>
                        <a:rPr lang="pt-PT" sz="1400" b="0">
                          <a:solidFill>
                            <a:srgbClr val="3D352E"/>
                          </a:solidFill>
                        </a:rPr>
                        <a:t>6.8</a:t>
                      </a:r>
                    </a:p>
                  </a:txBody>
                  <a:tcPr anchor="ctr">
                    <a:solidFill>
                      <a:srgbClr val="DDB1A4"/>
                    </a:solidFill>
                  </a:tcPr>
                </a:tc>
                <a:tc>
                  <a:txBody>
                    <a:bodyPr/>
                    <a:lstStyle/>
                    <a:p>
                      <a:pPr algn="ctr"/>
                      <a:r>
                        <a:rPr lang="pt-PT" sz="1400" b="0">
                          <a:solidFill>
                            <a:srgbClr val="3D352E"/>
                          </a:solidFill>
                        </a:rPr>
                        <a:t>5.7</a:t>
                      </a:r>
                    </a:p>
                  </a:txBody>
                  <a:tcPr anchor="ctr">
                    <a:solidFill>
                      <a:srgbClr val="E3C1B4"/>
                    </a:solidFill>
                  </a:tcPr>
                </a:tc>
                <a:tc>
                  <a:txBody>
                    <a:bodyPr/>
                    <a:lstStyle/>
                    <a:p>
                      <a:pPr algn="ctr"/>
                      <a:r>
                        <a:rPr lang="pt-PT" sz="1400" b="0">
                          <a:solidFill>
                            <a:srgbClr val="3D352E"/>
                          </a:solidFill>
                        </a:rPr>
                        <a:t>5.5</a:t>
                      </a:r>
                    </a:p>
                  </a:txBody>
                  <a:tcPr anchor="ctr">
                    <a:solidFill>
                      <a:srgbClr val="E4C4B7"/>
                    </a:solidFill>
                  </a:tcPr>
                </a:tc>
                <a:tc>
                  <a:txBody>
                    <a:bodyPr/>
                    <a:lstStyle/>
                    <a:p>
                      <a:pPr algn="ctr"/>
                      <a:r>
                        <a:rPr lang="pt-PT" sz="1400" b="0">
                          <a:solidFill>
                            <a:srgbClr val="3D352E"/>
                          </a:solidFill>
                        </a:rPr>
                        <a:t>5.8</a:t>
                      </a:r>
                    </a:p>
                  </a:txBody>
                  <a:tcPr anchor="ctr">
                    <a:solidFill>
                      <a:srgbClr val="E3BFB3"/>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5.7</a:t>
                      </a:r>
                    </a:p>
                  </a:txBody>
                  <a:tcPr anchor="ctr">
                    <a:solidFill>
                      <a:srgbClr val="E3C1B4"/>
                    </a:solidFill>
                  </a:tcPr>
                </a:tc>
                <a:tc>
                  <a:txBody>
                    <a:bodyPr/>
                    <a:lstStyle/>
                    <a:p>
                      <a:pPr algn="ctr"/>
                      <a:r>
                        <a:rPr lang="pt-PT" sz="1400" b="0">
                          <a:solidFill>
                            <a:srgbClr val="3D352E"/>
                          </a:solidFill>
                        </a:rPr>
                        <a:t>5.7</a:t>
                      </a:r>
                    </a:p>
                  </a:txBody>
                  <a:tcPr anchor="ctr">
                    <a:solidFill>
                      <a:srgbClr val="E3C1B4"/>
                    </a:solidFill>
                  </a:tcPr>
                </a:tc>
                <a:tc>
                  <a:txBody>
                    <a:bodyPr/>
                    <a:lstStyle/>
                    <a:p>
                      <a:pPr algn="ctr"/>
                      <a:r>
                        <a:rPr lang="pt-PT" sz="1400" b="0">
                          <a:solidFill>
                            <a:srgbClr val="3D352E"/>
                          </a:solidFill>
                        </a:rPr>
                        <a:t>5.1</a:t>
                      </a:r>
                    </a:p>
                  </a:txBody>
                  <a:tcPr anchor="ctr">
                    <a:solidFill>
                      <a:srgbClr val="E7C9BD"/>
                    </a:solidFill>
                  </a:tcPr>
                </a:tc>
                <a:extLst>
                  <a:ext uri="{0D108BD9-81ED-4DB2-BD59-A6C34878D82A}">
                    <a16:rowId xmlns:a16="http://schemas.microsoft.com/office/drawing/2014/main" val="688028639"/>
                  </a:ext>
                </a:extLst>
              </a:tr>
              <a:tr h="355600">
                <a:tc>
                  <a:txBody>
                    <a:bodyPr/>
                    <a:lstStyle/>
                    <a:p>
                      <a:pPr algn="l"/>
                      <a:r>
                        <a:rPr lang="pt-PT" sz="1400" b="1">
                          <a:solidFill>
                            <a:srgbClr val="2B2622"/>
                          </a:solidFill>
                        </a:rPr>
                        <a:t>Saturday</a:t>
                      </a:r>
                    </a:p>
                  </a:txBody>
                  <a:tcPr anchor="ctr">
                    <a:solidFill>
                      <a:srgbClr val="FAF6F0"/>
                    </a:solidFill>
                  </a:tcPr>
                </a:tc>
                <a:tc>
                  <a:txBody>
                    <a:bodyPr/>
                    <a:lstStyle/>
                    <a:p>
                      <a:pPr algn="ctr"/>
                      <a:r>
                        <a:rPr lang="pt-PT" sz="1400" b="0">
                          <a:solidFill>
                            <a:srgbClr val="3D352E"/>
                          </a:solidFill>
                        </a:rPr>
                        <a:t>2.9</a:t>
                      </a:r>
                    </a:p>
                  </a:txBody>
                  <a:tcPr anchor="ctr">
                    <a:solidFill>
                      <a:srgbClr val="F3E8DF"/>
                    </a:solidFill>
                  </a:tcPr>
                </a:tc>
                <a:tc>
                  <a:txBody>
                    <a:bodyPr/>
                    <a:lstStyle/>
                    <a:p>
                      <a:pPr algn="ctr"/>
                      <a:r>
                        <a:rPr lang="pt-PT" sz="1400" b="0">
                          <a:solidFill>
                            <a:srgbClr val="3D352E"/>
                          </a:solidFill>
                        </a:rPr>
                        <a:t>8.8</a:t>
                      </a:r>
                    </a:p>
                  </a:txBody>
                  <a:tcPr anchor="ctr">
                    <a:solidFill>
                      <a:srgbClr val="D19685"/>
                    </a:solidFill>
                  </a:tcPr>
                </a:tc>
                <a:tc>
                  <a:txBody>
                    <a:bodyPr/>
                    <a:lstStyle/>
                    <a:p>
                      <a:pPr algn="ctr"/>
                      <a:r>
                        <a:rPr lang="pt-PT" sz="1400" b="1">
                          <a:solidFill>
                            <a:srgbClr val="FFFFFF"/>
                          </a:solidFill>
                        </a:rPr>
                        <a:t>11.4</a:t>
                      </a:r>
                    </a:p>
                  </a:txBody>
                  <a:tcPr anchor="ctr">
                    <a:solidFill>
                      <a:srgbClr val="C2725D"/>
                    </a:solidFill>
                  </a:tcPr>
                </a:tc>
                <a:tc>
                  <a:txBody>
                    <a:bodyPr/>
                    <a:lstStyle/>
                    <a:p>
                      <a:pPr algn="ctr"/>
                      <a:r>
                        <a:rPr lang="pt-PT" sz="1400" b="1">
                          <a:solidFill>
                            <a:srgbClr val="FFFFFF"/>
                          </a:solidFill>
                        </a:rPr>
                        <a:t>11.3</a:t>
                      </a:r>
                    </a:p>
                  </a:txBody>
                  <a:tcPr anchor="ctr">
                    <a:solidFill>
                      <a:srgbClr val="C2735F"/>
                    </a:solidFill>
                  </a:tcPr>
                </a:tc>
                <a:tc>
                  <a:txBody>
                    <a:bodyPr/>
                    <a:lstStyle/>
                    <a:p>
                      <a:pPr algn="ctr"/>
                      <a:r>
                        <a:rPr lang="pt-PT" sz="1400" b="1">
                          <a:solidFill>
                            <a:srgbClr val="FFFFFF"/>
                          </a:solidFill>
                        </a:rPr>
                        <a:t>12.7</a:t>
                      </a:r>
                    </a:p>
                  </a:txBody>
                  <a:tcPr anchor="ctr">
                    <a:solidFill>
                      <a:srgbClr val="BA604A"/>
                    </a:solidFill>
                  </a:tcPr>
                </a:tc>
                <a:tc>
                  <a:txBody>
                    <a:bodyPr/>
                    <a:lstStyle/>
                    <a:p>
                      <a:pPr algn="ctr"/>
                      <a:r>
                        <a:rPr lang="pt-PT" sz="1400" b="0">
                          <a:solidFill>
                            <a:srgbClr val="3D352E"/>
                          </a:solidFill>
                        </a:rPr>
                        <a:t>6.4</a:t>
                      </a:r>
                    </a:p>
                  </a:txBody>
                  <a:tcPr anchor="ctr">
                    <a:solidFill>
                      <a:srgbClr val="DFB7AA"/>
                    </a:solidFill>
                  </a:tcPr>
                </a:tc>
                <a:tc>
                  <a:txBody>
                    <a:bodyPr/>
                    <a:lstStyle/>
                    <a:p>
                      <a:pPr algn="ctr"/>
                      <a:r>
                        <a:rPr lang="pt-PT" sz="1400" b="0">
                          <a:solidFill>
                            <a:srgbClr val="3D352E"/>
                          </a:solidFill>
                        </a:rPr>
                        <a:t>6.0</a:t>
                      </a:r>
                    </a:p>
                  </a:txBody>
                  <a:tcPr anchor="ctr">
                    <a:solidFill>
                      <a:srgbClr val="E1BDB0"/>
                    </a:solidFill>
                  </a:tcPr>
                </a:tc>
                <a:tc>
                  <a:txBody>
                    <a:bodyPr/>
                    <a:lstStyle/>
                    <a:p>
                      <a:pPr algn="ctr"/>
                      <a:r>
                        <a:rPr lang="pt-PT" sz="1400" b="0">
                          <a:solidFill>
                            <a:srgbClr val="3D352E"/>
                          </a:solidFill>
                        </a:rPr>
                        <a:t>5.5</a:t>
                      </a:r>
                    </a:p>
                  </a:txBody>
                  <a:tcPr anchor="ctr">
                    <a:solidFill>
                      <a:srgbClr val="E4C4B7"/>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5.8</a:t>
                      </a:r>
                    </a:p>
                  </a:txBody>
                  <a:tcPr anchor="ctr">
                    <a:solidFill>
                      <a:srgbClr val="E3BFB3"/>
                    </a:solidFill>
                  </a:tcPr>
                </a:tc>
                <a:tc>
                  <a:txBody>
                    <a:bodyPr/>
                    <a:lstStyle/>
                    <a:p>
                      <a:pPr algn="ctr"/>
                      <a:r>
                        <a:rPr lang="pt-PT" sz="1400" b="0">
                          <a:solidFill>
                            <a:srgbClr val="3D352E"/>
                          </a:solidFill>
                        </a:rPr>
                        <a:t>5.4</a:t>
                      </a:r>
                    </a:p>
                  </a:txBody>
                  <a:tcPr anchor="ctr">
                    <a:solidFill>
                      <a:srgbClr val="E5C5B9"/>
                    </a:solidFill>
                  </a:tcPr>
                </a:tc>
                <a:tc>
                  <a:txBody>
                    <a:bodyPr/>
                    <a:lstStyle/>
                    <a:p>
                      <a:pPr algn="ctr"/>
                      <a:r>
                        <a:rPr lang="pt-PT" sz="1400" b="0">
                          <a:solidFill>
                            <a:srgbClr val="3D352E"/>
                          </a:solidFill>
                        </a:rPr>
                        <a:t>4.6</a:t>
                      </a:r>
                    </a:p>
                  </a:txBody>
                  <a:tcPr anchor="ctr">
                    <a:solidFill>
                      <a:srgbClr val="EAD0C5"/>
                    </a:solidFill>
                  </a:tcPr>
                </a:tc>
                <a:extLst>
                  <a:ext uri="{0D108BD9-81ED-4DB2-BD59-A6C34878D82A}">
                    <a16:rowId xmlns:a16="http://schemas.microsoft.com/office/drawing/2014/main" val="1482442430"/>
                  </a:ext>
                </a:extLst>
              </a:tr>
              <a:tr h="355600">
                <a:tc>
                  <a:txBody>
                    <a:bodyPr/>
                    <a:lstStyle/>
                    <a:p>
                      <a:pPr algn="l"/>
                      <a:r>
                        <a:rPr lang="pt-PT" sz="1400" b="1">
                          <a:solidFill>
                            <a:srgbClr val="2B2622"/>
                          </a:solidFill>
                        </a:rPr>
                        <a:t>Sunday</a:t>
                      </a:r>
                    </a:p>
                  </a:txBody>
                  <a:tcPr anchor="ctr">
                    <a:solidFill>
                      <a:srgbClr val="FAF6F0"/>
                    </a:solidFill>
                  </a:tcPr>
                </a:tc>
                <a:tc>
                  <a:txBody>
                    <a:bodyPr/>
                    <a:lstStyle/>
                    <a:p>
                      <a:pPr algn="ctr"/>
                      <a:r>
                        <a:rPr lang="pt-PT" sz="1400" b="0">
                          <a:solidFill>
                            <a:srgbClr val="3D352E"/>
                          </a:solidFill>
                        </a:rPr>
                        <a:t>3.3</a:t>
                      </a:r>
                    </a:p>
                  </a:txBody>
                  <a:tcPr anchor="ctr">
                    <a:solidFill>
                      <a:srgbClr val="F1E2D9"/>
                    </a:solidFill>
                  </a:tcPr>
                </a:tc>
                <a:tc>
                  <a:txBody>
                    <a:bodyPr/>
                    <a:lstStyle/>
                    <a:p>
                      <a:pPr algn="ctr"/>
                      <a:r>
                        <a:rPr lang="pt-PT" sz="1400" b="0">
                          <a:solidFill>
                            <a:srgbClr val="3D352E"/>
                          </a:solidFill>
                        </a:rPr>
                        <a:t>8.9</a:t>
                      </a:r>
                    </a:p>
                  </a:txBody>
                  <a:tcPr anchor="ctr">
                    <a:solidFill>
                      <a:srgbClr val="D09484"/>
                    </a:solidFill>
                  </a:tcPr>
                </a:tc>
                <a:tc>
                  <a:txBody>
                    <a:bodyPr/>
                    <a:lstStyle/>
                    <a:p>
                      <a:pPr algn="ctr"/>
                      <a:r>
                        <a:rPr lang="pt-PT" sz="1400" b="1">
                          <a:solidFill>
                            <a:srgbClr val="FFFFFF"/>
                          </a:solidFill>
                        </a:rPr>
                        <a:t>11.6</a:t>
                      </a:r>
                    </a:p>
                  </a:txBody>
                  <a:tcPr anchor="ctr">
                    <a:solidFill>
                      <a:srgbClr val="C16F5A"/>
                    </a:solidFill>
                  </a:tcPr>
                </a:tc>
                <a:tc>
                  <a:txBody>
                    <a:bodyPr/>
                    <a:lstStyle/>
                    <a:p>
                      <a:pPr algn="ctr"/>
                      <a:r>
                        <a:rPr lang="pt-PT" sz="1400" b="1">
                          <a:solidFill>
                            <a:srgbClr val="FFFFFF"/>
                          </a:solidFill>
                        </a:rPr>
                        <a:t>12.4</a:t>
                      </a:r>
                    </a:p>
                  </a:txBody>
                  <a:tcPr anchor="ctr">
                    <a:solidFill>
                      <a:srgbClr val="BC644E"/>
                    </a:solidFill>
                  </a:tcPr>
                </a:tc>
                <a:tc>
                  <a:txBody>
                    <a:bodyPr/>
                    <a:lstStyle/>
                    <a:p>
                      <a:pPr algn="ctr"/>
                      <a:r>
                        <a:rPr lang="pt-PT" sz="1400" b="1">
                          <a:solidFill>
                            <a:srgbClr val="FFFFFF"/>
                          </a:solidFill>
                        </a:rPr>
                        <a:t>12.4</a:t>
                      </a:r>
                    </a:p>
                  </a:txBody>
                  <a:tcPr anchor="ctr">
                    <a:solidFill>
                      <a:srgbClr val="BC644E"/>
                    </a:solidFill>
                  </a:tcPr>
                </a:tc>
                <a:tc>
                  <a:txBody>
                    <a:bodyPr/>
                    <a:lstStyle/>
                    <a:p>
                      <a:pPr algn="ctr"/>
                      <a:r>
                        <a:rPr lang="pt-PT" sz="1400" b="0">
                          <a:solidFill>
                            <a:srgbClr val="3D352E"/>
                          </a:solidFill>
                        </a:rPr>
                        <a:t>6.1</a:t>
                      </a:r>
                    </a:p>
                  </a:txBody>
                  <a:tcPr anchor="ctr">
                    <a:solidFill>
                      <a:srgbClr val="E1BBAE"/>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5.9</a:t>
                      </a:r>
                    </a:p>
                  </a:txBody>
                  <a:tcPr anchor="ctr">
                    <a:solidFill>
                      <a:srgbClr val="E2BEB1"/>
                    </a:solidFill>
                  </a:tcPr>
                </a:tc>
                <a:tc>
                  <a:txBody>
                    <a:bodyPr/>
                    <a:lstStyle/>
                    <a:p>
                      <a:pPr algn="ctr"/>
                      <a:r>
                        <a:rPr lang="pt-PT" sz="1400" b="0">
                          <a:solidFill>
                            <a:srgbClr val="3D352E"/>
                          </a:solidFill>
                        </a:rPr>
                        <a:t>5.8</a:t>
                      </a:r>
                    </a:p>
                  </a:txBody>
                  <a:tcPr anchor="ctr">
                    <a:solidFill>
                      <a:srgbClr val="E3BFB3"/>
                    </a:solidFill>
                  </a:tcPr>
                </a:tc>
                <a:tc>
                  <a:txBody>
                    <a:bodyPr/>
                    <a:lstStyle/>
                    <a:p>
                      <a:pPr algn="ctr"/>
                      <a:r>
                        <a:rPr lang="pt-PT" sz="1400" b="0">
                          <a:solidFill>
                            <a:srgbClr val="3D352E"/>
                          </a:solidFill>
                        </a:rPr>
                        <a:t>5.6</a:t>
                      </a:r>
                    </a:p>
                  </a:txBody>
                  <a:tcPr anchor="ctr">
                    <a:solidFill>
                      <a:srgbClr val="E4C2B6"/>
                    </a:solidFill>
                  </a:tcPr>
                </a:tc>
                <a:tc>
                  <a:txBody>
                    <a:bodyPr/>
                    <a:lstStyle/>
                    <a:p>
                      <a:pPr algn="ctr"/>
                      <a:r>
                        <a:rPr lang="pt-PT" sz="1400" b="0">
                          <a:solidFill>
                            <a:srgbClr val="3D352E"/>
                          </a:solidFill>
                        </a:rPr>
                        <a:t>5.7</a:t>
                      </a:r>
                    </a:p>
                  </a:txBody>
                  <a:tcPr anchor="ctr">
                    <a:solidFill>
                      <a:srgbClr val="E3C1B4"/>
                    </a:solidFill>
                  </a:tcPr>
                </a:tc>
                <a:tc>
                  <a:txBody>
                    <a:bodyPr/>
                    <a:lstStyle/>
                    <a:p>
                      <a:pPr algn="ctr"/>
                      <a:r>
                        <a:rPr lang="pt-PT" sz="1400" b="0">
                          <a:solidFill>
                            <a:srgbClr val="3D352E"/>
                          </a:solidFill>
                        </a:rPr>
                        <a:t>5.8</a:t>
                      </a:r>
                    </a:p>
                  </a:txBody>
                  <a:tcPr anchor="ctr">
                    <a:solidFill>
                      <a:srgbClr val="E3BFB3"/>
                    </a:solidFill>
                  </a:tcPr>
                </a:tc>
                <a:tc>
                  <a:txBody>
                    <a:bodyPr/>
                    <a:lstStyle/>
                    <a:p>
                      <a:pPr algn="ctr"/>
                      <a:r>
                        <a:rPr lang="pt-PT" sz="1400" b="0">
                          <a:solidFill>
                            <a:srgbClr val="3D352E"/>
                          </a:solidFill>
                        </a:rPr>
                        <a:t>4.8</a:t>
                      </a:r>
                    </a:p>
                  </a:txBody>
                  <a:tcPr anchor="ctr">
                    <a:solidFill>
                      <a:srgbClr val="E8CDC2"/>
                    </a:solidFill>
                  </a:tcPr>
                </a:tc>
                <a:extLst>
                  <a:ext uri="{0D108BD9-81ED-4DB2-BD59-A6C34878D82A}">
                    <a16:rowId xmlns:a16="http://schemas.microsoft.com/office/drawing/2014/main" val="1866535115"/>
                  </a:ext>
                </a:extLst>
              </a:tr>
            </a:tbl>
          </a:graphicData>
        </a:graphic>
      </p:graphicFrame>
    </p:spTree>
    <p:extLst>
      <p:ext uri="{BB962C8B-B14F-4D97-AF65-F5344CB8AC3E}">
        <p14:creationId xmlns:p14="http://schemas.microsoft.com/office/powerpoint/2010/main" val="1305148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EAEA-2A19-DBD4-CD5C-124AE890AD83}"/>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Three stores of equal size, three different baskets</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Store performance · Jan–Jun 2023</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4191000"/>
            <a:ext cx="4978400" cy="1905000"/>
          </a:xfrm>
          <a:prstGeom prst="rect">
            <a:avLst/>
          </a:prstGeom>
          <a:noFill/>
        </p:spPr>
        <p:txBody>
          <a:bodyPr wrap="square" lIns="0" tIns="0" rIns="0" bIns="0" anchor="t"/>
          <a:lstStyle/>
          <a:p>
            <a:pPr algn="l">
              <a:buNone/>
            </a:pPr>
            <a:r>
              <a:rPr lang="en-US" sz="1700" b="1" dirty="0">
                <a:solidFill>
                  <a:srgbClr val="B5533C"/>
                </a:solidFill>
              </a:rPr>
              <a:t>Lower Manhattan</a:t>
            </a:r>
          </a:p>
          <a:p>
            <a:pPr algn="l">
              <a:spcBef>
                <a:spcPts val="500"/>
              </a:spcBef>
              <a:buNone/>
            </a:pPr>
            <a:r>
              <a:rPr lang="en-US" sz="1500" dirty="0">
                <a:solidFill>
                  <a:srgbClr val="4A3E36"/>
                </a:solidFill>
              </a:rPr>
              <a:t>Sells 5.8% fewer transactions than Hell’s Kitchen yet lands within 3% on revenue, because its average ticket is the highest of the three at USD 4.81. It also carries the largest Branded share, 2.7% against 0.8% in Hell’s Kitchen.</a:t>
            </a:r>
          </a:p>
        </p:txBody>
      </p:sp>
      <p:sp>
        <p:nvSpPr>
          <p:cNvPr id="53" name="Text"/>
          <p:cNvSpPr txBox="1"/>
          <p:nvPr/>
        </p:nvSpPr>
        <p:spPr>
          <a:xfrm>
            <a:off x="6375400" y="4191000"/>
            <a:ext cx="4978400" cy="1905000"/>
          </a:xfrm>
          <a:prstGeom prst="rect">
            <a:avLst/>
          </a:prstGeom>
          <a:noFill/>
        </p:spPr>
        <p:txBody>
          <a:bodyPr wrap="square" lIns="0" tIns="0" rIns="0" bIns="0" anchor="t"/>
          <a:lstStyle/>
          <a:p>
            <a:pPr algn="l">
              <a:buNone/>
            </a:pPr>
            <a:r>
              <a:rPr lang="en-US" sz="1700" b="1" dirty="0">
                <a:solidFill>
                  <a:srgbClr val="B5533C"/>
                </a:solidFill>
              </a:rPr>
              <a:t>Hell’s Kitchen</a:t>
            </a:r>
          </a:p>
          <a:p>
            <a:pPr algn="l">
              <a:spcBef>
                <a:spcPts val="500"/>
              </a:spcBef>
              <a:buNone/>
            </a:pPr>
            <a:r>
              <a:rPr lang="en-US" sz="1500" dirty="0">
                <a:solidFill>
                  <a:srgbClr val="4A3E36"/>
                </a:solidFill>
              </a:rPr>
              <a:t>Sells coffee beans at nearly twice the rate of the other two — 7.9% of its revenue against 4.4% in Astoria and 4.9% in Lower Manhattan. Worth identifying what drives that and testing it in the other two stores.</a:t>
            </a:r>
          </a:p>
        </p:txBody>
      </p:sp>
      <p:sp>
        <p:nvSpPr>
          <p:cNvPr id="54" name="Rule"/>
          <p:cNvSpPr/>
          <p:nvPr/>
        </p:nvSpPr>
        <p:spPr>
          <a:xfrm>
            <a:off x="6096000" y="4267200"/>
            <a:ext cx="12700" cy="1676400"/>
          </a:xfrm>
          <a:prstGeom prst="rect">
            <a:avLst/>
          </a:prstGeom>
          <a:solidFill>
            <a:srgbClr val="DFD3C4"/>
          </a:solidFill>
          <a:ln>
            <a:noFill/>
          </a:ln>
        </p:spPr>
        <p:txBody>
          <a:bodyPr/>
          <a:lstStyle/>
          <a:p>
            <a:endParaRPr lang="en-US"/>
          </a:p>
        </p:txBody>
      </p:sp>
      <p:graphicFrame>
        <p:nvGraphicFramePr>
          <p:cNvPr id="4" name="Table 3">
            <a:extLst>
              <a:ext uri="{FF2B5EF4-FFF2-40B4-BE49-F238E27FC236}">
                <a16:creationId xmlns:a16="http://schemas.microsoft.com/office/drawing/2014/main" id="{76DCDB1E-7958-4457-B287-40500A6A7060}"/>
              </a:ext>
            </a:extLst>
          </p:cNvPr>
          <p:cNvGraphicFramePr>
            <a:graphicFrameLocks noGrp="1"/>
          </p:cNvGraphicFramePr>
          <p:nvPr>
            <p:extLst>
              <p:ext uri="{D42A27DB-BD31-4B8C-83A1-F6EECF244321}">
                <p14:modId xmlns:p14="http://schemas.microsoft.com/office/powerpoint/2010/main" val="4280798785"/>
              </p:ext>
            </p:extLst>
          </p:nvPr>
        </p:nvGraphicFramePr>
        <p:xfrm>
          <a:off x="838200" y="1854200"/>
          <a:ext cx="10515600" cy="214376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558070393"/>
                    </a:ext>
                  </a:extLst>
                </a:gridCol>
                <a:gridCol w="1778000">
                  <a:extLst>
                    <a:ext uri="{9D8B030D-6E8A-4147-A177-3AD203B41FA5}">
                      <a16:colId xmlns:a16="http://schemas.microsoft.com/office/drawing/2014/main" val="1138826516"/>
                    </a:ext>
                  </a:extLst>
                </a:gridCol>
                <a:gridCol w="1397000">
                  <a:extLst>
                    <a:ext uri="{9D8B030D-6E8A-4147-A177-3AD203B41FA5}">
                      <a16:colId xmlns:a16="http://schemas.microsoft.com/office/drawing/2014/main" val="777035586"/>
                    </a:ext>
                  </a:extLst>
                </a:gridCol>
                <a:gridCol w="1778000">
                  <a:extLst>
                    <a:ext uri="{9D8B030D-6E8A-4147-A177-3AD203B41FA5}">
                      <a16:colId xmlns:a16="http://schemas.microsoft.com/office/drawing/2014/main" val="3055332132"/>
                    </a:ext>
                  </a:extLst>
                </a:gridCol>
                <a:gridCol w="1524000">
                  <a:extLst>
                    <a:ext uri="{9D8B030D-6E8A-4147-A177-3AD203B41FA5}">
                      <a16:colId xmlns:a16="http://schemas.microsoft.com/office/drawing/2014/main" val="4275406456"/>
                    </a:ext>
                  </a:extLst>
                </a:gridCol>
                <a:gridCol w="1498600">
                  <a:extLst>
                    <a:ext uri="{9D8B030D-6E8A-4147-A177-3AD203B41FA5}">
                      <a16:colId xmlns:a16="http://schemas.microsoft.com/office/drawing/2014/main" val="1296202461"/>
                    </a:ext>
                  </a:extLst>
                </a:gridCol>
              </a:tblGrid>
              <a:tr h="406400">
                <a:tc>
                  <a:txBody>
                    <a:bodyPr/>
                    <a:lstStyle/>
                    <a:p>
                      <a:pPr algn="l"/>
                      <a:r>
                        <a:rPr lang="pt-PT" sz="1400" b="1">
                          <a:solidFill>
                            <a:srgbClr val="FFFFFF"/>
                          </a:solidFill>
                        </a:rPr>
                        <a:t>Store</a:t>
                      </a:r>
                    </a:p>
                  </a:txBody>
                  <a:tcPr anchor="ctr">
                    <a:solidFill>
                      <a:srgbClr val="B5533C"/>
                    </a:solidFill>
                  </a:tcPr>
                </a:tc>
                <a:tc>
                  <a:txBody>
                    <a:bodyPr/>
                    <a:lstStyle/>
                    <a:p>
                      <a:pPr algn="r"/>
                      <a:r>
                        <a:rPr lang="pt-PT" sz="1400" b="1">
                          <a:solidFill>
                            <a:srgbClr val="FFFFFF"/>
                          </a:solidFill>
                        </a:rPr>
                        <a:t>Revenue (USD)</a:t>
                      </a:r>
                    </a:p>
                  </a:txBody>
                  <a:tcPr anchor="ctr">
                    <a:solidFill>
                      <a:srgbClr val="B5533C"/>
                    </a:solidFill>
                  </a:tcPr>
                </a:tc>
                <a:tc>
                  <a:txBody>
                    <a:bodyPr/>
                    <a:lstStyle/>
                    <a:p>
                      <a:pPr algn="r"/>
                      <a:r>
                        <a:rPr lang="pt-PT" sz="1400" b="1">
                          <a:solidFill>
                            <a:srgbClr val="FFFFFF"/>
                          </a:solidFill>
                        </a:rPr>
                        <a:t>% of total</a:t>
                      </a:r>
                    </a:p>
                  </a:txBody>
                  <a:tcPr anchor="ctr">
                    <a:solidFill>
                      <a:srgbClr val="B5533C"/>
                    </a:solidFill>
                  </a:tcPr>
                </a:tc>
                <a:tc>
                  <a:txBody>
                    <a:bodyPr/>
                    <a:lstStyle/>
                    <a:p>
                      <a:pPr algn="r"/>
                      <a:r>
                        <a:rPr lang="pt-PT" sz="1400" b="1">
                          <a:solidFill>
                            <a:srgbClr val="FFFFFF"/>
                          </a:solidFill>
                        </a:rPr>
                        <a:t>Transactions</a:t>
                      </a:r>
                    </a:p>
                  </a:txBody>
                  <a:tcPr anchor="ctr">
                    <a:solidFill>
                      <a:srgbClr val="B5533C"/>
                    </a:solidFill>
                  </a:tcPr>
                </a:tc>
                <a:tc>
                  <a:txBody>
                    <a:bodyPr/>
                    <a:lstStyle/>
                    <a:p>
                      <a:pPr algn="r"/>
                      <a:r>
                        <a:rPr lang="pt-PT" sz="1400" b="1">
                          <a:solidFill>
                            <a:srgbClr val="FFFFFF"/>
                          </a:solidFill>
                        </a:rPr>
                        <a:t>Avg ticket (USD)</a:t>
                      </a:r>
                    </a:p>
                  </a:txBody>
                  <a:tcPr anchor="ctr">
                    <a:solidFill>
                      <a:srgbClr val="B5533C"/>
                    </a:solidFill>
                  </a:tcPr>
                </a:tc>
                <a:tc>
                  <a:txBody>
                    <a:bodyPr/>
                    <a:lstStyle/>
                    <a:p>
                      <a:pPr algn="r"/>
                      <a:r>
                        <a:rPr lang="pt-PT" sz="1400" b="1">
                          <a:solidFill>
                            <a:srgbClr val="FFFFFF"/>
                          </a:solidFill>
                        </a:rPr>
                        <a:t>Coffee beans % of store</a:t>
                      </a:r>
                    </a:p>
                  </a:txBody>
                  <a:tcPr anchor="ctr">
                    <a:solidFill>
                      <a:srgbClr val="B5533C"/>
                    </a:solidFill>
                  </a:tcPr>
                </a:tc>
                <a:extLst>
                  <a:ext uri="{0D108BD9-81ED-4DB2-BD59-A6C34878D82A}">
                    <a16:rowId xmlns:a16="http://schemas.microsoft.com/office/drawing/2014/main" val="1153611860"/>
                  </a:ext>
                </a:extLst>
              </a:tr>
              <a:tr h="406400">
                <a:tc>
                  <a:txBody>
                    <a:bodyPr/>
                    <a:lstStyle/>
                    <a:p>
                      <a:pPr algn="l"/>
                      <a:r>
                        <a:rPr lang="pt-PT" sz="1500" b="1">
                          <a:solidFill>
                            <a:srgbClr val="2B2622"/>
                          </a:solidFill>
                        </a:rPr>
                        <a:t>Astoria</a:t>
                      </a:r>
                    </a:p>
                  </a:txBody>
                  <a:tcPr anchor="ctr">
                    <a:solidFill>
                      <a:srgbClr val="FAF6F0"/>
                    </a:solidFill>
                  </a:tcPr>
                </a:tc>
                <a:tc>
                  <a:txBody>
                    <a:bodyPr/>
                    <a:lstStyle/>
                    <a:p>
                      <a:pPr algn="r"/>
                      <a:r>
                        <a:rPr lang="pt-PT" sz="1500" b="0">
                          <a:solidFill>
                            <a:srgbClr val="2B2622"/>
                          </a:solidFill>
                        </a:rPr>
                        <a:t>232,244</a:t>
                      </a:r>
                    </a:p>
                  </a:txBody>
                  <a:tcPr anchor="ctr">
                    <a:solidFill>
                      <a:srgbClr val="FAF6F0"/>
                    </a:solidFill>
                  </a:tcPr>
                </a:tc>
                <a:tc>
                  <a:txBody>
                    <a:bodyPr/>
                    <a:lstStyle/>
                    <a:p>
                      <a:pPr algn="r"/>
                      <a:r>
                        <a:rPr lang="pt-PT" sz="1500" b="0">
                          <a:solidFill>
                            <a:srgbClr val="2B2622"/>
                          </a:solidFill>
                        </a:rPr>
                        <a:t>33.2%</a:t>
                      </a:r>
                    </a:p>
                  </a:txBody>
                  <a:tcPr anchor="ctr">
                    <a:solidFill>
                      <a:srgbClr val="FAF6F0"/>
                    </a:solidFill>
                  </a:tcPr>
                </a:tc>
                <a:tc>
                  <a:txBody>
                    <a:bodyPr/>
                    <a:lstStyle/>
                    <a:p>
                      <a:pPr algn="r"/>
                      <a:r>
                        <a:rPr lang="pt-PT" sz="1500" b="0">
                          <a:solidFill>
                            <a:srgbClr val="2B2622"/>
                          </a:solidFill>
                        </a:rPr>
                        <a:t>50,599</a:t>
                      </a:r>
                    </a:p>
                  </a:txBody>
                  <a:tcPr anchor="ctr">
                    <a:solidFill>
                      <a:srgbClr val="FAF6F0"/>
                    </a:solidFill>
                  </a:tcPr>
                </a:tc>
                <a:tc>
                  <a:txBody>
                    <a:bodyPr/>
                    <a:lstStyle/>
                    <a:p>
                      <a:pPr algn="r"/>
                      <a:r>
                        <a:rPr lang="pt-PT" sz="1500" b="0">
                          <a:solidFill>
                            <a:srgbClr val="2B2622"/>
                          </a:solidFill>
                        </a:rPr>
                        <a:t>4.59</a:t>
                      </a:r>
                    </a:p>
                  </a:txBody>
                  <a:tcPr anchor="ctr">
                    <a:solidFill>
                      <a:srgbClr val="FAF6F0"/>
                    </a:solidFill>
                  </a:tcPr>
                </a:tc>
                <a:tc>
                  <a:txBody>
                    <a:bodyPr/>
                    <a:lstStyle/>
                    <a:p>
                      <a:pPr algn="r"/>
                      <a:r>
                        <a:rPr lang="pt-PT" sz="1500" b="0">
                          <a:solidFill>
                            <a:srgbClr val="2B2622"/>
                          </a:solidFill>
                        </a:rPr>
                        <a:t>4.4%</a:t>
                      </a:r>
                    </a:p>
                  </a:txBody>
                  <a:tcPr anchor="ctr">
                    <a:solidFill>
                      <a:srgbClr val="FAF6F0"/>
                    </a:solidFill>
                  </a:tcPr>
                </a:tc>
                <a:extLst>
                  <a:ext uri="{0D108BD9-81ED-4DB2-BD59-A6C34878D82A}">
                    <a16:rowId xmlns:a16="http://schemas.microsoft.com/office/drawing/2014/main" val="3021458219"/>
                  </a:ext>
                </a:extLst>
              </a:tr>
              <a:tr h="406400">
                <a:tc>
                  <a:txBody>
                    <a:bodyPr/>
                    <a:lstStyle/>
                    <a:p>
                      <a:pPr algn="l"/>
                      <a:r>
                        <a:rPr lang="pt-PT" sz="1500" b="1">
                          <a:solidFill>
                            <a:srgbClr val="2B2622"/>
                          </a:solidFill>
                        </a:rPr>
                        <a:t>Hell's Kitchen</a:t>
                      </a:r>
                    </a:p>
                  </a:txBody>
                  <a:tcPr anchor="ctr">
                    <a:solidFill>
                      <a:srgbClr val="F5EFE7"/>
                    </a:solidFill>
                  </a:tcPr>
                </a:tc>
                <a:tc>
                  <a:txBody>
                    <a:bodyPr/>
                    <a:lstStyle/>
                    <a:p>
                      <a:pPr algn="r"/>
                      <a:r>
                        <a:rPr lang="pt-PT" sz="1500" b="0">
                          <a:solidFill>
                            <a:srgbClr val="2B2622"/>
                          </a:solidFill>
                        </a:rPr>
                        <a:t>236,511</a:t>
                      </a:r>
                    </a:p>
                  </a:txBody>
                  <a:tcPr anchor="ctr">
                    <a:solidFill>
                      <a:srgbClr val="F5EFE7"/>
                    </a:solidFill>
                  </a:tcPr>
                </a:tc>
                <a:tc>
                  <a:txBody>
                    <a:bodyPr/>
                    <a:lstStyle/>
                    <a:p>
                      <a:pPr algn="r"/>
                      <a:r>
                        <a:rPr lang="pt-PT" sz="1500" b="0">
                          <a:solidFill>
                            <a:srgbClr val="2B2622"/>
                          </a:solidFill>
                        </a:rPr>
                        <a:t>33.8%</a:t>
                      </a:r>
                    </a:p>
                  </a:txBody>
                  <a:tcPr anchor="ctr">
                    <a:solidFill>
                      <a:srgbClr val="F5EFE7"/>
                    </a:solidFill>
                  </a:tcPr>
                </a:tc>
                <a:tc>
                  <a:txBody>
                    <a:bodyPr/>
                    <a:lstStyle/>
                    <a:p>
                      <a:pPr algn="r"/>
                      <a:r>
                        <a:rPr lang="pt-PT" sz="1500" b="0">
                          <a:solidFill>
                            <a:srgbClr val="2B2622"/>
                          </a:solidFill>
                        </a:rPr>
                        <a:t>50,735</a:t>
                      </a:r>
                    </a:p>
                  </a:txBody>
                  <a:tcPr anchor="ctr">
                    <a:solidFill>
                      <a:srgbClr val="F5EFE7"/>
                    </a:solidFill>
                  </a:tcPr>
                </a:tc>
                <a:tc>
                  <a:txBody>
                    <a:bodyPr/>
                    <a:lstStyle/>
                    <a:p>
                      <a:pPr algn="r"/>
                      <a:r>
                        <a:rPr lang="pt-PT" sz="1500" b="0">
                          <a:solidFill>
                            <a:srgbClr val="2B2622"/>
                          </a:solidFill>
                        </a:rPr>
                        <a:t>4.66</a:t>
                      </a:r>
                    </a:p>
                  </a:txBody>
                  <a:tcPr anchor="ctr">
                    <a:solidFill>
                      <a:srgbClr val="F5EFE7"/>
                    </a:solidFill>
                  </a:tcPr>
                </a:tc>
                <a:tc>
                  <a:txBody>
                    <a:bodyPr/>
                    <a:lstStyle/>
                    <a:p>
                      <a:pPr algn="r"/>
                      <a:r>
                        <a:rPr lang="pt-PT" sz="1500" b="0">
                          <a:solidFill>
                            <a:srgbClr val="2B2622"/>
                          </a:solidFill>
                        </a:rPr>
                        <a:t>7.9%</a:t>
                      </a:r>
                    </a:p>
                  </a:txBody>
                  <a:tcPr anchor="ctr">
                    <a:solidFill>
                      <a:srgbClr val="F5EFE7"/>
                    </a:solidFill>
                  </a:tcPr>
                </a:tc>
                <a:extLst>
                  <a:ext uri="{0D108BD9-81ED-4DB2-BD59-A6C34878D82A}">
                    <a16:rowId xmlns:a16="http://schemas.microsoft.com/office/drawing/2014/main" val="1985467311"/>
                  </a:ext>
                </a:extLst>
              </a:tr>
              <a:tr h="406400">
                <a:tc>
                  <a:txBody>
                    <a:bodyPr/>
                    <a:lstStyle/>
                    <a:p>
                      <a:pPr algn="l"/>
                      <a:r>
                        <a:rPr lang="pt-PT" sz="1500" b="1">
                          <a:solidFill>
                            <a:srgbClr val="2B2622"/>
                          </a:solidFill>
                        </a:rPr>
                        <a:t>Lower Manhattan</a:t>
                      </a:r>
                    </a:p>
                  </a:txBody>
                  <a:tcPr anchor="ctr">
                    <a:solidFill>
                      <a:srgbClr val="FAF6F0"/>
                    </a:solidFill>
                  </a:tcPr>
                </a:tc>
                <a:tc>
                  <a:txBody>
                    <a:bodyPr/>
                    <a:lstStyle/>
                    <a:p>
                      <a:pPr algn="r"/>
                      <a:r>
                        <a:rPr lang="pt-PT" sz="1500" b="0">
                          <a:solidFill>
                            <a:srgbClr val="2B2622"/>
                          </a:solidFill>
                        </a:rPr>
                        <a:t>230,057</a:t>
                      </a:r>
                    </a:p>
                  </a:txBody>
                  <a:tcPr anchor="ctr">
                    <a:solidFill>
                      <a:srgbClr val="FAF6F0"/>
                    </a:solidFill>
                  </a:tcPr>
                </a:tc>
                <a:tc>
                  <a:txBody>
                    <a:bodyPr/>
                    <a:lstStyle/>
                    <a:p>
                      <a:pPr algn="r"/>
                      <a:r>
                        <a:rPr lang="pt-PT" sz="1500" b="0">
                          <a:solidFill>
                            <a:srgbClr val="2B2622"/>
                          </a:solidFill>
                        </a:rPr>
                        <a:t>32.9%</a:t>
                      </a:r>
                    </a:p>
                  </a:txBody>
                  <a:tcPr anchor="ctr">
                    <a:solidFill>
                      <a:srgbClr val="FAF6F0"/>
                    </a:solidFill>
                  </a:tcPr>
                </a:tc>
                <a:tc>
                  <a:txBody>
                    <a:bodyPr/>
                    <a:lstStyle/>
                    <a:p>
                      <a:pPr algn="r"/>
                      <a:r>
                        <a:rPr lang="pt-PT" sz="1500" b="0">
                          <a:solidFill>
                            <a:srgbClr val="2B2622"/>
                          </a:solidFill>
                        </a:rPr>
                        <a:t>47,782</a:t>
                      </a:r>
                    </a:p>
                  </a:txBody>
                  <a:tcPr anchor="ctr">
                    <a:solidFill>
                      <a:srgbClr val="FAF6F0"/>
                    </a:solidFill>
                  </a:tcPr>
                </a:tc>
                <a:tc>
                  <a:txBody>
                    <a:bodyPr/>
                    <a:lstStyle/>
                    <a:p>
                      <a:pPr algn="r"/>
                      <a:r>
                        <a:rPr lang="pt-PT" sz="1500" b="0">
                          <a:solidFill>
                            <a:srgbClr val="2B2622"/>
                          </a:solidFill>
                        </a:rPr>
                        <a:t>4.81</a:t>
                      </a:r>
                    </a:p>
                  </a:txBody>
                  <a:tcPr anchor="ctr">
                    <a:solidFill>
                      <a:srgbClr val="FAF6F0"/>
                    </a:solidFill>
                  </a:tcPr>
                </a:tc>
                <a:tc>
                  <a:txBody>
                    <a:bodyPr/>
                    <a:lstStyle/>
                    <a:p>
                      <a:pPr algn="r"/>
                      <a:r>
                        <a:rPr lang="pt-PT" sz="1500" b="0">
                          <a:solidFill>
                            <a:srgbClr val="2B2622"/>
                          </a:solidFill>
                        </a:rPr>
                        <a:t>4.9%</a:t>
                      </a:r>
                    </a:p>
                  </a:txBody>
                  <a:tcPr anchor="ctr">
                    <a:solidFill>
                      <a:srgbClr val="FAF6F0"/>
                    </a:solidFill>
                  </a:tcPr>
                </a:tc>
                <a:extLst>
                  <a:ext uri="{0D108BD9-81ED-4DB2-BD59-A6C34878D82A}">
                    <a16:rowId xmlns:a16="http://schemas.microsoft.com/office/drawing/2014/main" val="2918667991"/>
                  </a:ext>
                </a:extLst>
              </a:tr>
              <a:tr h="406400">
                <a:tc>
                  <a:txBody>
                    <a:bodyPr/>
                    <a:lstStyle/>
                    <a:p>
                      <a:pPr algn="l"/>
                      <a:r>
                        <a:rPr lang="pt-PT" sz="1500" b="1">
                          <a:solidFill>
                            <a:srgbClr val="2B2622"/>
                          </a:solidFill>
                        </a:rPr>
                        <a:t>Total</a:t>
                      </a:r>
                    </a:p>
                  </a:txBody>
                  <a:tcPr anchor="ctr">
                    <a:solidFill>
                      <a:srgbClr val="EDE3D6"/>
                    </a:solidFill>
                  </a:tcPr>
                </a:tc>
                <a:tc>
                  <a:txBody>
                    <a:bodyPr/>
                    <a:lstStyle/>
                    <a:p>
                      <a:pPr algn="r"/>
                      <a:r>
                        <a:rPr lang="pt-PT" sz="1500" b="1">
                          <a:solidFill>
                            <a:srgbClr val="2B2622"/>
                          </a:solidFill>
                        </a:rPr>
                        <a:t>698,812</a:t>
                      </a:r>
                    </a:p>
                  </a:txBody>
                  <a:tcPr anchor="ctr">
                    <a:solidFill>
                      <a:srgbClr val="EDE3D6"/>
                    </a:solidFill>
                  </a:tcPr>
                </a:tc>
                <a:tc>
                  <a:txBody>
                    <a:bodyPr/>
                    <a:lstStyle/>
                    <a:p>
                      <a:pPr algn="r"/>
                      <a:r>
                        <a:rPr lang="pt-PT" sz="1500" b="1">
                          <a:solidFill>
                            <a:srgbClr val="2B2622"/>
                          </a:solidFill>
                        </a:rPr>
                        <a:t>100.0%</a:t>
                      </a:r>
                    </a:p>
                  </a:txBody>
                  <a:tcPr anchor="ctr">
                    <a:solidFill>
                      <a:srgbClr val="EDE3D6"/>
                    </a:solidFill>
                  </a:tcPr>
                </a:tc>
                <a:tc>
                  <a:txBody>
                    <a:bodyPr/>
                    <a:lstStyle/>
                    <a:p>
                      <a:pPr algn="r"/>
                      <a:r>
                        <a:rPr lang="pt-PT" sz="1500" b="1">
                          <a:solidFill>
                            <a:srgbClr val="2B2622"/>
                          </a:solidFill>
                        </a:rPr>
                        <a:t>149,116</a:t>
                      </a:r>
                    </a:p>
                  </a:txBody>
                  <a:tcPr anchor="ctr">
                    <a:solidFill>
                      <a:srgbClr val="EDE3D6"/>
                    </a:solidFill>
                  </a:tcPr>
                </a:tc>
                <a:tc>
                  <a:txBody>
                    <a:bodyPr/>
                    <a:lstStyle/>
                    <a:p>
                      <a:pPr algn="r"/>
                      <a:r>
                        <a:rPr lang="pt-PT" sz="1500" b="1">
                          <a:solidFill>
                            <a:srgbClr val="2B2622"/>
                          </a:solidFill>
                        </a:rPr>
                        <a:t>4.69</a:t>
                      </a:r>
                    </a:p>
                  </a:txBody>
                  <a:tcPr anchor="ctr">
                    <a:solidFill>
                      <a:srgbClr val="EDE3D6"/>
                    </a:solidFill>
                  </a:tcPr>
                </a:tc>
                <a:tc>
                  <a:txBody>
                    <a:bodyPr/>
                    <a:lstStyle/>
                    <a:p>
                      <a:pPr algn="r"/>
                      <a:r>
                        <a:rPr lang="pt-PT" sz="1500" b="1">
                          <a:solidFill>
                            <a:srgbClr val="2B2622"/>
                          </a:solidFill>
                        </a:rPr>
                        <a:t>5.7%</a:t>
                      </a:r>
                    </a:p>
                  </a:txBody>
                  <a:tcPr anchor="ctr">
                    <a:solidFill>
                      <a:srgbClr val="EDE3D6"/>
                    </a:solidFill>
                  </a:tcPr>
                </a:tc>
                <a:extLst>
                  <a:ext uri="{0D108BD9-81ED-4DB2-BD59-A6C34878D82A}">
                    <a16:rowId xmlns:a16="http://schemas.microsoft.com/office/drawing/2014/main" val="53411990"/>
                  </a:ext>
                </a:extLst>
              </a:tr>
            </a:tbl>
          </a:graphicData>
        </a:graphic>
      </p:graphicFrame>
    </p:spTree>
    <p:extLst>
      <p:ext uri="{BB962C8B-B14F-4D97-AF65-F5344CB8AC3E}">
        <p14:creationId xmlns:p14="http://schemas.microsoft.com/office/powerpoint/2010/main" val="285681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59A3-19E9-BD74-0111-D083932AC7B0}"/>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Two categories are two thirds of the business</a:t>
            </a:r>
          </a:p>
        </p:txBody>
      </p:sp>
      <p:sp>
        <p:nvSpPr>
          <p:cNvPr id="50" name="Text"/>
          <p:cNvSpPr txBox="1"/>
          <p:nvPr/>
        </p:nvSpPr>
        <p:spPr>
          <a:xfrm>
            <a:off x="838200" y="1066800"/>
            <a:ext cx="7112000" cy="279400"/>
          </a:xfrm>
          <a:prstGeom prst="rect">
            <a:avLst/>
          </a:prstGeom>
          <a:noFill/>
        </p:spPr>
        <p:txBody>
          <a:bodyPr wrap="square" lIns="0" tIns="0" rIns="0" bIns="0" anchor="t"/>
          <a:lstStyle/>
          <a:p>
            <a:pPr algn="l">
              <a:buNone/>
            </a:pPr>
            <a:r>
              <a:rPr lang="en-US" sz="1400" dirty="0">
                <a:solidFill>
                  <a:srgbClr val="8A7C72"/>
                </a:solidFill>
              </a:rPr>
              <a:t>Share of revenue · % · by product category · Jan–Jun 2023</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05800" y="1905000"/>
            <a:ext cx="3048000" cy="4064000"/>
          </a:xfrm>
          <a:prstGeom prst="rect">
            <a:avLst/>
          </a:prstGeom>
          <a:noFill/>
        </p:spPr>
        <p:txBody>
          <a:bodyPr wrap="square" lIns="0" tIns="0" rIns="0" bIns="0" anchor="t"/>
          <a:lstStyle/>
          <a:p>
            <a:pPr algn="l">
              <a:buNone/>
            </a:pPr>
            <a:r>
              <a:rPr lang="en-US" sz="1600" b="1" dirty="0">
                <a:solidFill>
                  <a:srgbClr val="B5533C"/>
                </a:solidFill>
              </a:rPr>
              <a:t>Concentrated core</a:t>
            </a:r>
          </a:p>
          <a:p>
            <a:pPr algn="l">
              <a:spcBef>
                <a:spcPts val="500"/>
              </a:spcBef>
              <a:buNone/>
            </a:pPr>
            <a:r>
              <a:rPr lang="en-US" sz="1500" dirty="0">
                <a:solidFill>
                  <a:srgbClr val="4A3E36"/>
                </a:solidFill>
              </a:rPr>
              <a:t>Coffee and Tea together are 66.7% of revenue. Add Bakery and Drinking Chocolate and four categories cover 88.9%.</a:t>
            </a:r>
          </a:p>
          <a:p>
            <a:pPr algn="l">
              <a:spcBef>
                <a:spcPts val="1400"/>
              </a:spcBef>
              <a:buNone/>
            </a:pPr>
            <a:r>
              <a:rPr lang="en-US" sz="1600" b="1" dirty="0">
                <a:solidFill>
                  <a:srgbClr val="B5533C"/>
                </a:solidFill>
              </a:rPr>
              <a:t>The long tail</a:t>
            </a:r>
          </a:p>
          <a:p>
            <a:pPr algn="l">
              <a:spcBef>
                <a:spcPts val="500"/>
              </a:spcBef>
              <a:buNone/>
            </a:pPr>
            <a:r>
              <a:rPr lang="en-US" sz="1500" dirty="0">
                <a:solidFill>
                  <a:srgbClr val="4A3E36"/>
                </a:solidFill>
              </a:rPr>
              <a:t>Branded (1.9%) and Packaged Chocolate (0.6%) are under 3% combined and were the two slowest growers. Their role in the assortment should be justified on footfall or brand, not on sales.</a:t>
            </a:r>
          </a:p>
        </p:txBody>
      </p:sp>
      <p:graphicFrame>
        <p:nvGraphicFramePr>
          <p:cNvPr id="53" name="Chart"/>
          <p:cNvGraphicFramePr/>
          <p:nvPr/>
        </p:nvGraphicFramePr>
        <p:xfrm>
          <a:off x="762000" y="1854200"/>
          <a:ext cx="6934200" cy="401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7138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EAD8-0C79-ADC2-F104-0E771852F1AB}"/>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Ten products carry 79% of revenue</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Revenue · USD thousands · top 10 products of 32 · Jan–Jun 2023</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2" name="Text"/>
          <p:cNvSpPr txBox="1"/>
          <p:nvPr/>
        </p:nvSpPr>
        <p:spPr>
          <a:xfrm>
            <a:off x="838200" y="5384800"/>
            <a:ext cx="10515600" cy="762000"/>
          </a:xfrm>
          <a:prstGeom prst="rect">
            <a:avLst/>
          </a:prstGeom>
          <a:noFill/>
        </p:spPr>
        <p:txBody>
          <a:bodyPr wrap="square" lIns="0" tIns="0" rIns="0" bIns="0" anchor="t"/>
          <a:lstStyle/>
          <a:p>
            <a:pPr algn="l">
              <a:lnSpc>
                <a:spcPct val="112000"/>
              </a:lnSpc>
              <a:buNone/>
            </a:pPr>
            <a:r>
              <a:rPr lang="en-US" sz="1600" b="1" dirty="0">
                <a:solidFill>
                  <a:srgbClr val="2B2622"/>
                </a:solidFill>
              </a:rPr>
              <a:t>Barista Espresso alone is 13.1% of revenue.  </a:t>
            </a:r>
            <a:r>
              <a:rPr lang="en-US" sz="1600" dirty="0">
                <a:solidFill>
                  <a:srgbClr val="4A3E36"/>
                </a:solidFill>
              </a:rPr>
              <a:t>The top ten total USD 551,789 of USD 698,812. Availability and consistency on these ten items therefore matter more to revenue than the entire remaining assortment.</a:t>
            </a:r>
          </a:p>
        </p:txBody>
      </p:sp>
      <p:graphicFrame>
        <p:nvGraphicFramePr>
          <p:cNvPr id="53" name="Chart"/>
          <p:cNvGraphicFramePr/>
          <p:nvPr/>
        </p:nvGraphicFramePr>
        <p:xfrm>
          <a:off x="838200" y="1727200"/>
          <a:ext cx="10515600" cy="3454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837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2BCC-49C3-DE26-FA4D-5703D09A013F}"/>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Recommendations</a:t>
            </a:r>
          </a:p>
        </p:txBody>
      </p:sp>
      <p:sp>
        <p:nvSpPr>
          <p:cNvPr id="3" name="Content Placeholder 2">
            <a:extLst>
              <a:ext uri="{FF2B5EF4-FFF2-40B4-BE49-F238E27FC236}">
                <a16:creationId xmlns:a16="http://schemas.microsoft.com/office/drawing/2014/main" id="{CD34F2C1-AEE9-C594-7735-5E7BAB33C086}"/>
              </a:ext>
            </a:extLst>
          </p:cNvPr>
          <p:cNvSpPr>
            <a:spLocks noGrp="1"/>
          </p:cNvSpPr>
          <p:nvPr>
            <p:ph idx="1"/>
          </p:nvPr>
        </p:nvSpPr>
        <p:spPr>
          <a:xfrm>
            <a:off x="838200" y="1701800"/>
            <a:ext cx="10515600" cy="4445000"/>
          </a:xfrm>
        </p:spPr>
        <p:txBody>
          <a:bodyPr/>
          <a:lstStyle/>
          <a:p>
            <a:pPr marL="0" indent="0" algn="l">
              <a:spcBef>
                <a:spcPts val="0"/>
              </a:spcBef>
              <a:buNone/>
            </a:pPr>
            <a:r>
              <a:rPr lang="en-US" sz="1700" b="1" dirty="0">
                <a:solidFill>
                  <a:srgbClr val="B5533C"/>
                </a:solidFill>
              </a:rPr>
              <a:t>1   </a:t>
            </a:r>
            <a:r>
              <a:rPr lang="en-US" sz="1700" b="1" dirty="0">
                <a:solidFill>
                  <a:srgbClr val="2B2622"/>
                </a:solidFill>
              </a:rPr>
              <a:t>Concentrate shift cover on 07:00–11:00</a:t>
            </a:r>
          </a:p>
          <a:p>
            <a:pPr marL="304800" indent="0" algn="l">
              <a:spcBef>
                <a:spcPts val="200"/>
              </a:spcBef>
              <a:buNone/>
            </a:pPr>
            <a:r>
              <a:rPr lang="en-US" sz="1450" dirty="0">
                <a:solidFill>
                  <a:srgbClr val="4A3E36"/>
                </a:solidFill>
              </a:rPr>
              <a:t>Those four hours carry 45.8% of revenue and the pattern repeats on all seven days, so it is the safest block to staff against.  </a:t>
            </a:r>
            <a:r>
              <a:rPr lang="en-US" sz="1450" b="1" dirty="0">
                <a:solidFill>
                  <a:srgbClr val="6E7B52"/>
                </a:solidFill>
              </a:rPr>
              <a:t>Metric: Revenue per labour hour in the morning block.</a:t>
            </a:r>
          </a:p>
          <a:p>
            <a:pPr marL="0" indent="0" algn="l">
              <a:spcBef>
                <a:spcPts val="1000"/>
              </a:spcBef>
              <a:buNone/>
            </a:pPr>
            <a:r>
              <a:rPr lang="en-US" sz="1700" b="1" dirty="0">
                <a:solidFill>
                  <a:srgbClr val="B5533C"/>
                </a:solidFill>
              </a:rPr>
              <a:t>2   </a:t>
            </a:r>
            <a:r>
              <a:rPr lang="en-US" sz="1700" b="1" dirty="0">
                <a:solidFill>
                  <a:srgbClr val="2B2622"/>
                </a:solidFill>
              </a:rPr>
              <a:t>Stop trading at 19:00, or give 20:00 a reason to exist</a:t>
            </a:r>
          </a:p>
          <a:p>
            <a:pPr marL="304800" indent="0" algn="l">
              <a:spcBef>
                <a:spcPts val="200"/>
              </a:spcBef>
              <a:buNone/>
            </a:pPr>
            <a:r>
              <a:rPr lang="en-US" sz="1450" dirty="0">
                <a:solidFill>
                  <a:srgbClr val="4A3E36"/>
                </a:solidFill>
              </a:rPr>
              <a:t>The 20:00 hour produced USD 794 in June, 0.5% of the month. Either close an hour earlier or test a specific evening offer.  </a:t>
            </a:r>
            <a:r>
              <a:rPr lang="en-US" sz="1450" b="1" dirty="0">
                <a:solidFill>
                  <a:srgbClr val="6E7B52"/>
                </a:solidFill>
              </a:rPr>
              <a:t>Metric: Revenue in the 19:00–20:00 window.</a:t>
            </a:r>
          </a:p>
          <a:p>
            <a:pPr marL="0" indent="0" algn="l">
              <a:spcBef>
                <a:spcPts val="1000"/>
              </a:spcBef>
              <a:buNone/>
            </a:pPr>
            <a:r>
              <a:rPr lang="en-US" sz="1700" b="1" dirty="0">
                <a:solidFill>
                  <a:srgbClr val="B5533C"/>
                </a:solidFill>
              </a:rPr>
              <a:t>3   </a:t>
            </a:r>
            <a:r>
              <a:rPr lang="en-US" sz="1700" b="1" dirty="0">
                <a:solidFill>
                  <a:srgbClr val="2B2622"/>
                </a:solidFill>
              </a:rPr>
              <a:t>Justify or cut the assortment tail</a:t>
            </a:r>
          </a:p>
          <a:p>
            <a:pPr marL="304800" indent="0" algn="l">
              <a:spcBef>
                <a:spcPts val="200"/>
              </a:spcBef>
              <a:buNone/>
            </a:pPr>
            <a:r>
              <a:rPr lang="en-US" sz="1450" dirty="0">
                <a:solidFill>
                  <a:srgbClr val="4A3E36"/>
                </a:solidFill>
              </a:rPr>
              <a:t>Branded (1.9%) and Packaged Chocolate (0.6%) are under 3% of revenue combined and were the two slowest growers.  </a:t>
            </a:r>
            <a:r>
              <a:rPr lang="en-US" sz="1450" b="1" dirty="0">
                <a:solidFill>
                  <a:srgbClr val="6E7B52"/>
                </a:solidFill>
              </a:rPr>
              <a:t>Metric: Revenue per SKU, reviewed quarterly.</a:t>
            </a:r>
          </a:p>
          <a:p>
            <a:pPr marL="0" indent="0" algn="l">
              <a:spcBef>
                <a:spcPts val="1000"/>
              </a:spcBef>
              <a:buNone/>
            </a:pPr>
            <a:r>
              <a:rPr lang="en-US" sz="1700" b="1" dirty="0">
                <a:solidFill>
                  <a:srgbClr val="B5533C"/>
                </a:solidFill>
              </a:rPr>
              <a:t>4   </a:t>
            </a:r>
            <a:r>
              <a:rPr lang="en-US" sz="1700" b="1" dirty="0">
                <a:solidFill>
                  <a:srgbClr val="2B2622"/>
                </a:solidFill>
              </a:rPr>
              <a:t>Copy the Hell’s Kitchen bean sale</a:t>
            </a:r>
          </a:p>
          <a:p>
            <a:pPr marL="304800" indent="0" algn="l">
              <a:spcBef>
                <a:spcPts val="200"/>
              </a:spcBef>
              <a:buNone/>
            </a:pPr>
            <a:r>
              <a:rPr lang="en-US" sz="1450" dirty="0">
                <a:solidFill>
                  <a:srgbClr val="4A3E36"/>
                </a:solidFill>
              </a:rPr>
              <a:t>Coffee beans are 7.9% of revenue there against 4.4% in Astoria and 4.9% in Lower Manhattan — find the merchandising difference and test it.  </a:t>
            </a:r>
            <a:r>
              <a:rPr lang="en-US" sz="1450" b="1" dirty="0">
                <a:solidFill>
                  <a:srgbClr val="6E7B52"/>
                </a:solidFill>
              </a:rPr>
              <a:t>Metric: Coffee-bean share of revenue by store.</a:t>
            </a:r>
          </a:p>
          <a:p>
            <a:pPr marL="0" indent="0" algn="l">
              <a:spcBef>
                <a:spcPts val="1000"/>
              </a:spcBef>
              <a:buNone/>
            </a:pPr>
            <a:r>
              <a:rPr lang="en-US" sz="1700" b="1" dirty="0">
                <a:solidFill>
                  <a:srgbClr val="B5533C"/>
                </a:solidFill>
              </a:rPr>
              <a:t>5   </a:t>
            </a:r>
            <a:r>
              <a:rPr lang="en-US" sz="1700" b="1" dirty="0">
                <a:solidFill>
                  <a:srgbClr val="2B2622"/>
                </a:solidFill>
              </a:rPr>
              <a:t>Start working the basket, not only the door</a:t>
            </a:r>
          </a:p>
          <a:p>
            <a:pPr marL="304800" indent="0" algn="l">
              <a:spcBef>
                <a:spcPts val="200"/>
              </a:spcBef>
              <a:buNone/>
            </a:pPr>
            <a:r>
              <a:rPr lang="en-US" sz="1450" dirty="0">
                <a:solidFill>
                  <a:srgbClr val="4A3E36"/>
                </a:solidFill>
              </a:rPr>
              <a:t>Growth so far is pure volume. Bundling on the top ten products is the first untested lever.  </a:t>
            </a:r>
            <a:r>
              <a:rPr lang="en-US" sz="1450" b="1" dirty="0">
                <a:solidFill>
                  <a:srgbClr val="6E7B52"/>
                </a:solidFill>
              </a:rPr>
              <a:t>Metric: Items per transaction and average ticket.</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Five actions, each with the metric that would show whether it worked</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Tree>
    <p:extLst>
      <p:ext uri="{BB962C8B-B14F-4D97-AF65-F5344CB8AC3E}">
        <p14:creationId xmlns:p14="http://schemas.microsoft.com/office/powerpoint/2010/main" val="3425214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D66DE-0634-9690-30C7-34B1DD81581A}"/>
              </a:ext>
            </a:extLst>
          </p:cNvPr>
          <p:cNvSpPr>
            <a:spLocks noGrp="1"/>
          </p:cNvSpPr>
          <p:nvPr>
            <p:ph type="title"/>
          </p:nvPr>
        </p:nvSpPr>
        <p:spPr>
          <a:xfrm>
            <a:off x="838200" y="431800"/>
            <a:ext cx="10515600" cy="584200"/>
          </a:xfrm>
        </p:spPr>
        <p:txBody>
          <a:bodyPr/>
          <a:lstStyle/>
          <a:p>
            <a:pPr algn="l">
              <a:buNone/>
            </a:pPr>
            <a:r>
              <a:rPr lang="en-US" sz="3200" b="1" dirty="0">
                <a:solidFill>
                  <a:srgbClr val="2B2622"/>
                </a:solidFill>
              </a:rPr>
              <a:t>What this analysis cannot tell you</a:t>
            </a:r>
          </a:p>
        </p:txBody>
      </p:sp>
      <p:sp>
        <p:nvSpPr>
          <p:cNvPr id="3" name="Content Placeholder 2">
            <a:extLst>
              <a:ext uri="{FF2B5EF4-FFF2-40B4-BE49-F238E27FC236}">
                <a16:creationId xmlns:a16="http://schemas.microsoft.com/office/drawing/2014/main" id="{14BEA205-F5A6-5620-8D6D-025D5711E129}"/>
              </a:ext>
            </a:extLst>
          </p:cNvPr>
          <p:cNvSpPr>
            <a:spLocks noGrp="1"/>
          </p:cNvSpPr>
          <p:nvPr>
            <p:ph sz="half" idx="1"/>
          </p:nvPr>
        </p:nvSpPr>
        <p:spPr>
          <a:xfrm>
            <a:off x="838200" y="1778000"/>
            <a:ext cx="4978400" cy="3810000"/>
          </a:xfrm>
        </p:spPr>
        <p:txBody>
          <a:bodyPr/>
          <a:lstStyle/>
          <a:p>
            <a:pPr marL="0" indent="0" algn="l">
              <a:spcBef>
                <a:spcPts val="0"/>
              </a:spcBef>
              <a:buNone/>
            </a:pPr>
            <a:r>
              <a:rPr lang="en-US" sz="1700" b="1" dirty="0">
                <a:solidFill>
                  <a:srgbClr val="B5533C"/>
                </a:solidFill>
              </a:rPr>
              <a:t>Limitations</a:t>
            </a:r>
          </a:p>
          <a:p>
            <a:pPr marL="228600" indent="-228600" algn="l">
              <a:spcBef>
                <a:spcPts val="800"/>
              </a:spcBef>
              <a:buFont typeface="Arial"/>
              <a:buChar char="•"/>
            </a:pPr>
            <a:r>
              <a:rPr lang="en-US" sz="1500" dirty="0">
                <a:solidFill>
                  <a:srgbClr val="4A3E36"/>
                </a:solidFill>
              </a:rPr>
              <a:t>No customer identifier, so repeat purchase and retention cannot be measured at all.</a:t>
            </a:r>
          </a:p>
          <a:p>
            <a:pPr marL="228600" indent="-228600" algn="l">
              <a:spcBef>
                <a:spcPts val="800"/>
              </a:spcBef>
              <a:buFont typeface="Arial"/>
              <a:buChar char="•"/>
            </a:pPr>
            <a:r>
              <a:rPr lang="en-US" sz="1500" dirty="0">
                <a:solidFill>
                  <a:srgbClr val="4A3E36"/>
                </a:solidFill>
              </a:rPr>
              <a:t>No cost or margin data: every figure here is revenue, and says nothing about profitability.</a:t>
            </a:r>
          </a:p>
          <a:p>
            <a:pPr marL="228600" indent="-228600" algn="l">
              <a:spcBef>
                <a:spcPts val="800"/>
              </a:spcBef>
              <a:buFont typeface="Arial"/>
              <a:buChar char="•"/>
            </a:pPr>
            <a:r>
              <a:rPr lang="en-US" sz="1500" dirty="0">
                <a:solidFill>
                  <a:srgbClr val="4A3E36"/>
                </a:solidFill>
              </a:rPr>
              <a:t>Six months only, so seasonality cannot be separated from underlying growth.</a:t>
            </a:r>
          </a:p>
          <a:p>
            <a:pPr marL="228600" indent="-228600" algn="l">
              <a:spcBef>
                <a:spcPts val="800"/>
              </a:spcBef>
              <a:buFont typeface="Arial"/>
              <a:buChar char="•"/>
            </a:pPr>
            <a:r>
              <a:rPr lang="en-US" sz="1500" dirty="0">
                <a:solidFill>
                  <a:srgbClr val="4A3E36"/>
                </a:solidFill>
              </a:rPr>
              <a:t>Category averages hide product-level divergence — Espresso Beans grew 53% and Clothing 55% while their categories grew far faster.</a:t>
            </a:r>
          </a:p>
        </p:txBody>
      </p:sp>
      <p:sp>
        <p:nvSpPr>
          <p:cNvPr id="4" name="Content Placeholder 3">
            <a:extLst>
              <a:ext uri="{FF2B5EF4-FFF2-40B4-BE49-F238E27FC236}">
                <a16:creationId xmlns:a16="http://schemas.microsoft.com/office/drawing/2014/main" id="{F4FD2E11-5F24-BE0D-145E-C130FA6BB24A}"/>
              </a:ext>
            </a:extLst>
          </p:cNvPr>
          <p:cNvSpPr>
            <a:spLocks noGrp="1"/>
          </p:cNvSpPr>
          <p:nvPr>
            <p:ph sz="half" idx="2"/>
          </p:nvPr>
        </p:nvSpPr>
        <p:spPr>
          <a:xfrm>
            <a:off x="6375400" y="1778000"/>
            <a:ext cx="4978400" cy="3810000"/>
          </a:xfrm>
        </p:spPr>
        <p:txBody>
          <a:bodyPr/>
          <a:lstStyle/>
          <a:p>
            <a:pPr marL="0" indent="0" algn="l">
              <a:spcBef>
                <a:spcPts val="0"/>
              </a:spcBef>
              <a:buNone/>
            </a:pPr>
            <a:r>
              <a:rPr lang="en-US" sz="1700" b="1" dirty="0">
                <a:solidFill>
                  <a:srgbClr val="6E7B52"/>
                </a:solidFill>
              </a:rPr>
              <a:t>Next steps</a:t>
            </a:r>
          </a:p>
          <a:p>
            <a:pPr marL="228600" indent="-228600" algn="l">
              <a:spcBef>
                <a:spcPts val="800"/>
              </a:spcBef>
              <a:buFont typeface="Arial"/>
              <a:buChar char="•"/>
            </a:pPr>
            <a:r>
              <a:rPr lang="en-US" sz="1500" dirty="0">
                <a:solidFill>
                  <a:srgbClr val="4A3E36"/>
                </a:solidFill>
              </a:rPr>
              <a:t>Join cost data to move from revenue to gross margin by category and by store.</a:t>
            </a:r>
          </a:p>
          <a:p>
            <a:pPr marL="228600" indent="-228600" algn="l">
              <a:spcBef>
                <a:spcPts val="800"/>
              </a:spcBef>
              <a:buFont typeface="Arial"/>
              <a:buChar char="•"/>
            </a:pPr>
            <a:r>
              <a:rPr lang="en-US" sz="1500" dirty="0">
                <a:solidFill>
                  <a:srgbClr val="4A3E36"/>
                </a:solidFill>
              </a:rPr>
              <a:t>Extend the window to at least twelve months to isolate seasonality from growth.</a:t>
            </a:r>
          </a:p>
          <a:p>
            <a:pPr marL="228600" indent="-228600" algn="l">
              <a:spcBef>
                <a:spcPts val="800"/>
              </a:spcBef>
              <a:buFont typeface="Arial"/>
              <a:buChar char="•"/>
            </a:pPr>
            <a:r>
              <a:rPr lang="en-US" sz="1500" dirty="0">
                <a:solidFill>
                  <a:srgbClr val="4A3E36"/>
                </a:solidFill>
              </a:rPr>
              <a:t>Add a loyalty or card identifier to enable repeat-purchase and cohort analysis.</a:t>
            </a:r>
          </a:p>
          <a:p>
            <a:pPr marL="228600" indent="-228600" algn="l">
              <a:spcBef>
                <a:spcPts val="800"/>
              </a:spcBef>
              <a:buFont typeface="Arial"/>
              <a:buChar char="•"/>
            </a:pPr>
            <a:r>
              <a:rPr lang="en-US" sz="1500" dirty="0">
                <a:solidFill>
                  <a:srgbClr val="4A3E36"/>
                </a:solidFill>
              </a:rPr>
              <a:t>Keep the model refreshable: the pivots read a live source table, so new months flow through on refresh.</a:t>
            </a:r>
          </a:p>
        </p:txBody>
      </p:sp>
      <p:sp>
        <p:nvSpPr>
          <p:cNvPr id="50" name="Text"/>
          <p:cNvSpPr txBox="1"/>
          <p:nvPr/>
        </p:nvSpPr>
        <p:spPr>
          <a:xfrm>
            <a:off x="838200" y="1066800"/>
            <a:ext cx="10515600" cy="279400"/>
          </a:xfrm>
          <a:prstGeom prst="rect">
            <a:avLst/>
          </a:prstGeom>
          <a:noFill/>
        </p:spPr>
        <p:txBody>
          <a:bodyPr wrap="square" lIns="0" tIns="0" rIns="0" bIns="0" anchor="t"/>
          <a:lstStyle/>
          <a:p>
            <a:pPr algn="l">
              <a:buNone/>
            </a:pPr>
            <a:r>
              <a:rPr lang="en-US" sz="1400" dirty="0">
                <a:solidFill>
                  <a:srgbClr val="8A7C72"/>
                </a:solidFill>
              </a:rPr>
              <a:t>Known limitations of the dataset, and what would resolve each of them</a:t>
            </a:r>
          </a:p>
        </p:txBody>
      </p:sp>
      <p:sp>
        <p:nvSpPr>
          <p:cNvPr id="51" name="Rule"/>
          <p:cNvSpPr/>
          <p:nvPr/>
        </p:nvSpPr>
        <p:spPr>
          <a:xfrm>
            <a:off x="838200" y="1473200"/>
            <a:ext cx="1066800" cy="50800"/>
          </a:xfrm>
          <a:prstGeom prst="rect">
            <a:avLst/>
          </a:prstGeom>
          <a:solidFill>
            <a:srgbClr val="B5533C"/>
          </a:solidFill>
          <a:ln>
            <a:noFill/>
          </a:ln>
        </p:spPr>
        <p:txBody>
          <a:bodyPr/>
          <a:lstStyle/>
          <a:p>
            <a:endParaRPr lang="en-US"/>
          </a:p>
        </p:txBody>
      </p:sp>
      <p:sp>
        <p:nvSpPr>
          <p:cNvPr id="54" name="Rule"/>
          <p:cNvSpPr/>
          <p:nvPr/>
        </p:nvSpPr>
        <p:spPr>
          <a:xfrm>
            <a:off x="6096000" y="1854200"/>
            <a:ext cx="12700" cy="3581400"/>
          </a:xfrm>
          <a:prstGeom prst="rect">
            <a:avLst/>
          </a:prstGeom>
          <a:solidFill>
            <a:srgbClr val="DFD3C4"/>
          </a:solidFill>
          <a:ln>
            <a:noFill/>
          </a:ln>
        </p:spPr>
        <p:txBody>
          <a:bodyPr/>
          <a:lstStyle/>
          <a:p>
            <a:endParaRPr lang="en-US"/>
          </a:p>
        </p:txBody>
      </p:sp>
      <p:sp>
        <p:nvSpPr>
          <p:cNvPr id="55" name="Text"/>
          <p:cNvSpPr txBox="1"/>
          <p:nvPr/>
        </p:nvSpPr>
        <p:spPr>
          <a:xfrm>
            <a:off x="838200" y="5740400"/>
            <a:ext cx="10515600" cy="330200"/>
          </a:xfrm>
          <a:prstGeom prst="rect">
            <a:avLst/>
          </a:prstGeom>
          <a:noFill/>
        </p:spPr>
        <p:txBody>
          <a:bodyPr wrap="square" lIns="0" tIns="0" rIns="0" bIns="0" anchor="t"/>
          <a:lstStyle/>
          <a:p>
            <a:pPr algn="l">
              <a:buNone/>
            </a:pPr>
            <a:r>
              <a:rPr lang="en-US" sz="1400" i="1" dirty="0">
                <a:solidFill>
                  <a:srgbClr val="8A7C72"/>
                </a:solidFill>
              </a:rPr>
              <a:t>Built in Excel: source table → pivot layer → dashboard. Every figure on every slide is a formula, not a typed number.</a:t>
            </a:r>
          </a:p>
        </p:txBody>
      </p:sp>
    </p:spTree>
    <p:extLst>
      <p:ext uri="{BB962C8B-B14F-4D97-AF65-F5344CB8AC3E}">
        <p14:creationId xmlns:p14="http://schemas.microsoft.com/office/powerpoint/2010/main" val="3762002827"/>
      </p:ext>
    </p:extLst>
  </p:cSld>
  <p:clrMapOvr>
    <a:masterClrMapping/>
  </p:clrMapOvr>
</p:sld>
</file>

<file path=ppt/theme/theme1.xml><?xml version="1.0" encoding="utf-8"?>
<a:theme xmlns:a="http://schemas.openxmlformats.org/drawingml/2006/main" name="Office Theme [1788689588052]">
  <a:themeElements>
    <a:clrScheme name="Office">
      <a:dk1>
        <a:srgbClr val="2B2622"/>
      </a:dk1>
      <a:lt1>
        <a:srgbClr val="FAF6F0"/>
      </a:lt1>
      <a:dk2>
        <a:srgbClr val="4A3E36"/>
      </a:dk2>
      <a:lt2>
        <a:srgbClr val="EDE3D6"/>
      </a:lt2>
      <a:accent1>
        <a:srgbClr val="B5533C"/>
      </a:accent1>
      <a:accent2>
        <a:srgbClr val="6E7B52"/>
      </a:accent2>
      <a:accent3>
        <a:srgbClr val="3E5C6B"/>
      </a:accent3>
      <a:accent4>
        <a:srgbClr val="C88B3A"/>
      </a:accent4>
      <a:accent5>
        <a:srgbClr val="8C6A54"/>
      </a:accent5>
      <a:accent6>
        <a:srgbClr val="9AA88A"/>
      </a:accent6>
      <a:hlink>
        <a:srgbClr val="467886"/>
      </a:hlink>
      <a:folHlink>
        <a:srgbClr val="96607D"/>
      </a:folHlink>
    </a:clrScheme>
    <a:fontScheme name="Office">
      <a:majorFont>
        <a:latin typeface="Georg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459B59-5BA0-4AD2-B2CC-CB1040925EC2}">
  <we:reference id="WA200010725" version="1.0.0.1" store="Omex" storeType="OMEX"/>
  <we:alternateReferences>
    <we:reference id="WA200010725" version="1.0.0.1" store="WA200010725" storeType="OMEX"/>
  </we:alternateReferences>
  <we:properties>
    <we:property name="claude.fileId" value="&quot;b12332b0-3c74-4856-9c7a-11064ef6e6b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474</TotalTime>
  <Words>1554</Words>
  <Application>Microsoft Office PowerPoint</Application>
  <PresentationFormat>Widescreen</PresentationFormat>
  <Paragraphs>246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Georgia</vt:lpstr>
      <vt:lpstr>Segoe UI</vt:lpstr>
      <vt:lpstr>Office Theme [1788689588052]</vt:lpstr>
      <vt:lpstr>Coffee Shop Sales New York</vt:lpstr>
      <vt:lpstr>Executive summary</vt:lpstr>
      <vt:lpstr>Scope, data and definitions</vt:lpstr>
      <vt:lpstr>Headline figures</vt:lpstr>
      <vt:lpstr>Revenue doubled between January and June</vt:lpstr>
      <vt:lpstr>The growth is volume, not price</vt:lpstr>
      <vt:lpstr>Four morning hours carry 45.8% of revenue</vt:lpstr>
      <vt:lpstr>The morning peak repeats every single day</vt:lpstr>
      <vt:lpstr>Three stores of equal size, three different baskets</vt:lpstr>
      <vt:lpstr>Two categories are two thirds of the business</vt:lpstr>
      <vt:lpstr>Ten products carry 79% of revenue</vt:lpstr>
      <vt:lpstr>Recommendations</vt:lpstr>
      <vt:lpstr>What this analysis cannot tell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António Santos Salgado de Faria</dc:creator>
  <cp:lastModifiedBy>António Santos Salgado de Faria</cp:lastModifiedBy>
  <cp:revision>3</cp:revision>
  <dcterms:created xsi:type="dcterms:W3CDTF">2026-09-06T10:13:07Z</dcterms:created>
  <dcterms:modified xsi:type="dcterms:W3CDTF">2026-09-06T18:07:09Z</dcterms:modified>
</cp:coreProperties>
</file>